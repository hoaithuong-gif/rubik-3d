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Paytone One" charset="1" panose="00000500000000000000"/>
      <p:regular r:id="rId24"/>
    </p:embeddedFont>
    <p:embeddedFont>
      <p:font typeface="Open Sans Bold" charset="1" panose="00000000000000000000"/>
      <p:regular r:id="rId25"/>
    </p:embeddedFont>
    <p:embeddedFont>
      <p:font typeface="Open Sans" charset="1" panose="00000000000000000000"/>
      <p:regular r:id="rId26"/>
    </p:embeddedFont>
    <p:embeddedFont>
      <p:font typeface="Noto Sans" charset="1" panose="020B0502040504020204"/>
      <p:regular r:id="rId27"/>
    </p:embeddedFont>
    <p:embeddedFont>
      <p:font typeface="Garet" charset="1" panose="00000000000000000000"/>
      <p:regular r:id="rId28"/>
    </p:embeddedFont>
    <p:embeddedFont>
      <p:font typeface="Garet Bold" charset="1" panose="0000000000000000000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7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5.png" Type="http://schemas.openxmlformats.org/officeDocument/2006/relationships/image"/><Relationship Id="rId7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5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png" Type="http://schemas.openxmlformats.org/officeDocument/2006/relationships/image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5.png" Type="http://schemas.openxmlformats.org/officeDocument/2006/relationships/image"/><Relationship Id="rId6" Target="../media/image23.png" Type="http://schemas.openxmlformats.org/officeDocument/2006/relationships/image"/><Relationship Id="rId7" Target="../media/image24.png" Type="http://schemas.openxmlformats.org/officeDocument/2006/relationships/image"/><Relationship Id="rId8" Target="../media/image25.pn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9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jpe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3.jpeg" Type="http://schemas.openxmlformats.org/officeDocument/2006/relationships/image"/><Relationship Id="rId4" Target="../media/image34.jpeg" Type="http://schemas.openxmlformats.org/officeDocument/2006/relationships/image"/><Relationship Id="rId5" Target="../media/image35.jpe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5.png" Type="http://schemas.openxmlformats.org/officeDocument/2006/relationships/image"/><Relationship Id="rId6" Target="../media/image36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5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0.jpe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3.png" Type="http://schemas.openxmlformats.org/officeDocument/2006/relationships/image"/><Relationship Id="rId11" Target="../media/image44.jpeg" Type="http://schemas.openxmlformats.org/officeDocument/2006/relationships/image"/><Relationship Id="rId12" Target="../media/image5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80805" y="2967568"/>
            <a:ext cx="1718426" cy="4351865"/>
            <a:chOff x="0" y="0"/>
            <a:chExt cx="452589" cy="11461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2589" cy="1146170"/>
            </a:xfrm>
            <a:custGeom>
              <a:avLst/>
              <a:gdLst/>
              <a:ahLst/>
              <a:cxnLst/>
              <a:rect r="r" b="b" t="t" l="l"/>
              <a:pathLst>
                <a:path h="1146170" w="452589">
                  <a:moveTo>
                    <a:pt x="112631" y="0"/>
                  </a:moveTo>
                  <a:lnTo>
                    <a:pt x="339958" y="0"/>
                  </a:lnTo>
                  <a:cubicBezTo>
                    <a:pt x="369830" y="0"/>
                    <a:pt x="398478" y="11866"/>
                    <a:pt x="419601" y="32989"/>
                  </a:cubicBezTo>
                  <a:cubicBezTo>
                    <a:pt x="440723" y="54111"/>
                    <a:pt x="452589" y="82759"/>
                    <a:pt x="452589" y="112631"/>
                  </a:cubicBezTo>
                  <a:lnTo>
                    <a:pt x="452589" y="1033539"/>
                  </a:lnTo>
                  <a:cubicBezTo>
                    <a:pt x="452589" y="1063411"/>
                    <a:pt x="440723" y="1092059"/>
                    <a:pt x="419601" y="1113181"/>
                  </a:cubicBezTo>
                  <a:cubicBezTo>
                    <a:pt x="398478" y="1134304"/>
                    <a:pt x="369830" y="1146170"/>
                    <a:pt x="339958" y="1146170"/>
                  </a:cubicBezTo>
                  <a:lnTo>
                    <a:pt x="112631" y="1146170"/>
                  </a:lnTo>
                  <a:cubicBezTo>
                    <a:pt x="82759" y="1146170"/>
                    <a:pt x="54111" y="1134304"/>
                    <a:pt x="32989" y="1113181"/>
                  </a:cubicBezTo>
                  <a:cubicBezTo>
                    <a:pt x="11866" y="1092059"/>
                    <a:pt x="0" y="1063411"/>
                    <a:pt x="0" y="1033539"/>
                  </a:cubicBezTo>
                  <a:lnTo>
                    <a:pt x="0" y="112631"/>
                  </a:lnTo>
                  <a:cubicBezTo>
                    <a:pt x="0" y="82759"/>
                    <a:pt x="11866" y="54111"/>
                    <a:pt x="32989" y="32989"/>
                  </a:cubicBezTo>
                  <a:cubicBezTo>
                    <a:pt x="54111" y="11866"/>
                    <a:pt x="82759" y="0"/>
                    <a:pt x="11263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52589" cy="1184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188229" y="0"/>
            <a:ext cx="8091523" cy="10923738"/>
            <a:chOff x="0" y="0"/>
            <a:chExt cx="2131101" cy="2877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31101" cy="2877034"/>
            </a:xfrm>
            <a:custGeom>
              <a:avLst/>
              <a:gdLst/>
              <a:ahLst/>
              <a:cxnLst/>
              <a:rect r="r" b="b" t="t" l="l"/>
              <a:pathLst>
                <a:path h="2877034" w="2131101">
                  <a:moveTo>
                    <a:pt x="0" y="0"/>
                  </a:moveTo>
                  <a:lnTo>
                    <a:pt x="2131101" y="0"/>
                  </a:lnTo>
                  <a:lnTo>
                    <a:pt x="2131101" y="2877034"/>
                  </a:lnTo>
                  <a:lnTo>
                    <a:pt x="0" y="2877034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0"/>
                  </a:srgbClr>
                </a:gs>
                <a:gs pos="50000">
                  <a:srgbClr val="003060">
                    <a:alpha val="100000"/>
                  </a:srgbClr>
                </a:gs>
                <a:gs pos="100000">
                  <a:srgbClr val="00306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31101" cy="291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41944" y="9289561"/>
            <a:ext cx="2675777" cy="679211"/>
          </a:xfrm>
          <a:custGeom>
            <a:avLst/>
            <a:gdLst/>
            <a:ahLst/>
            <a:cxnLst/>
            <a:rect r="r" b="b" t="t" l="l"/>
            <a:pathLst>
              <a:path h="679211" w="2675777">
                <a:moveTo>
                  <a:pt x="0" y="0"/>
                </a:moveTo>
                <a:lnTo>
                  <a:pt x="2675776" y="0"/>
                </a:lnTo>
                <a:lnTo>
                  <a:pt x="2675776" y="679212"/>
                </a:lnTo>
                <a:lnTo>
                  <a:pt x="0" y="679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79832" y="2130867"/>
            <a:ext cx="9408397" cy="3238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62"/>
              </a:lnSpc>
            </a:pPr>
            <a:r>
              <a:rPr lang="en-US" sz="6299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CÔNG NGHỆ 3D MODEL</a:t>
            </a:r>
          </a:p>
          <a:p>
            <a:pPr algn="just">
              <a:lnSpc>
                <a:spcPts val="6362"/>
              </a:lnSpc>
            </a:pPr>
            <a:r>
              <a:rPr lang="en-US" sz="6299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&amp;</a:t>
            </a:r>
          </a:p>
          <a:p>
            <a:pPr algn="just">
              <a:lnSpc>
                <a:spcPts val="6362"/>
              </a:lnSpc>
            </a:pPr>
            <a:r>
              <a:rPr lang="en-US" sz="6299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ỨNG DỤNG TRONG</a:t>
            </a:r>
            <a:r>
              <a:rPr lang="en-US" sz="6299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 LẬP TRÌNH DI ĐỘNG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835431" y="3692776"/>
            <a:ext cx="7566448" cy="7556990"/>
          </a:xfrm>
          <a:custGeom>
            <a:avLst/>
            <a:gdLst/>
            <a:ahLst/>
            <a:cxnLst/>
            <a:rect r="r" b="b" t="t" l="l"/>
            <a:pathLst>
              <a:path h="7556990" w="7566448">
                <a:moveTo>
                  <a:pt x="0" y="0"/>
                </a:moveTo>
                <a:lnTo>
                  <a:pt x="7566448" y="0"/>
                </a:lnTo>
                <a:lnTo>
                  <a:pt x="7566448" y="7556990"/>
                </a:lnTo>
                <a:lnTo>
                  <a:pt x="0" y="75569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3000"/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5400000">
            <a:off x="17203535" y="161169"/>
            <a:ext cx="311750" cy="823130"/>
          </a:xfrm>
          <a:custGeom>
            <a:avLst/>
            <a:gdLst/>
            <a:ahLst/>
            <a:cxnLst/>
            <a:rect r="r" b="b" t="t" l="l"/>
            <a:pathLst>
              <a:path h="823130" w="311750">
                <a:moveTo>
                  <a:pt x="0" y="0"/>
                </a:moveTo>
                <a:lnTo>
                  <a:pt x="311750" y="0"/>
                </a:lnTo>
                <a:lnTo>
                  <a:pt x="311750" y="823130"/>
                </a:lnTo>
                <a:lnTo>
                  <a:pt x="0" y="8231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175462" y="1028700"/>
            <a:ext cx="5728372" cy="8577871"/>
            <a:chOff x="0" y="0"/>
            <a:chExt cx="913928" cy="13685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13928" cy="1368549"/>
            </a:xfrm>
            <a:custGeom>
              <a:avLst/>
              <a:gdLst/>
              <a:ahLst/>
              <a:cxnLst/>
              <a:rect r="r" b="b" t="t" l="l"/>
              <a:pathLst>
                <a:path h="1368549" w="913928">
                  <a:moveTo>
                    <a:pt x="39194" y="0"/>
                  </a:moveTo>
                  <a:lnTo>
                    <a:pt x="874734" y="0"/>
                  </a:lnTo>
                  <a:cubicBezTo>
                    <a:pt x="896381" y="0"/>
                    <a:pt x="913928" y="17548"/>
                    <a:pt x="913928" y="39194"/>
                  </a:cubicBezTo>
                  <a:lnTo>
                    <a:pt x="913928" y="1329355"/>
                  </a:lnTo>
                  <a:cubicBezTo>
                    <a:pt x="913928" y="1351001"/>
                    <a:pt x="896381" y="1368549"/>
                    <a:pt x="874734" y="1368549"/>
                  </a:cubicBezTo>
                  <a:lnTo>
                    <a:pt x="39194" y="1368549"/>
                  </a:lnTo>
                  <a:cubicBezTo>
                    <a:pt x="17548" y="1368549"/>
                    <a:pt x="0" y="1351001"/>
                    <a:pt x="0" y="1329355"/>
                  </a:cubicBezTo>
                  <a:lnTo>
                    <a:pt x="0" y="39194"/>
                  </a:lnTo>
                  <a:cubicBezTo>
                    <a:pt x="0" y="17548"/>
                    <a:pt x="17548" y="0"/>
                    <a:pt x="39194" y="0"/>
                  </a:cubicBezTo>
                  <a:close/>
                </a:path>
              </a:pathLst>
            </a:custGeom>
            <a:blipFill>
              <a:blip r:embed="rId9"/>
              <a:stretch>
                <a:fillRect l="0" t="-9775" r="0" b="-9775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979779" y="6245905"/>
            <a:ext cx="10660650" cy="2322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742"/>
              </a:lnSpc>
              <a:spcBef>
                <a:spcPct val="0"/>
              </a:spcBef>
            </a:pPr>
            <a:r>
              <a:rPr lang="en-US" b="true" sz="2673">
                <a:solidFill>
                  <a:srgbClr val="003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</a:t>
            </a:r>
            <a:r>
              <a:rPr lang="en-US" b="true" sz="2673">
                <a:solidFill>
                  <a:srgbClr val="003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esented by:</a:t>
            </a:r>
          </a:p>
          <a:p>
            <a:pPr algn="just">
              <a:lnSpc>
                <a:spcPts val="3742"/>
              </a:lnSpc>
              <a:spcBef>
                <a:spcPct val="0"/>
              </a:spcBef>
            </a:pPr>
            <a:r>
              <a:rPr lang="en-US" b="true" sz="2673" spc="10">
                <a:solidFill>
                  <a:srgbClr val="003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                      </a:t>
            </a:r>
            <a:r>
              <a:rPr lang="en-US" sz="2673" spc="1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Trần Nguyễn Vĩ Khang - 2380601009</a:t>
            </a:r>
          </a:p>
          <a:p>
            <a:pPr algn="just">
              <a:lnSpc>
                <a:spcPts val="3742"/>
              </a:lnSpc>
              <a:spcBef>
                <a:spcPct val="0"/>
              </a:spcBef>
            </a:pPr>
            <a:r>
              <a:rPr lang="en-US" sz="2673" spc="1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</a:t>
            </a:r>
            <a:r>
              <a:rPr lang="en-US" sz="2673" spc="1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Bùi Thị Hoài Thương - 2380602204</a:t>
            </a:r>
          </a:p>
          <a:p>
            <a:pPr algn="just">
              <a:lnSpc>
                <a:spcPts val="3742"/>
              </a:lnSpc>
              <a:spcBef>
                <a:spcPct val="0"/>
              </a:spcBef>
            </a:pPr>
            <a:r>
              <a:rPr lang="en-US" sz="2673" spc="1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</a:t>
            </a:r>
            <a:r>
              <a:rPr lang="en-US" sz="2673" spc="1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Phạm Ngọc Anh - 2380600070</a:t>
            </a:r>
          </a:p>
          <a:p>
            <a:pPr algn="just">
              <a:lnSpc>
                <a:spcPts val="3742"/>
              </a:lnSpc>
              <a:spcBef>
                <a:spcPct val="0"/>
              </a:spcBef>
            </a:pPr>
            <a:r>
              <a:rPr lang="en-US" sz="2673" spc="1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</a:t>
            </a:r>
            <a:r>
              <a:rPr lang="en-US" sz="2673" spc="1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Nguyễn Thanh Hoàng Quý - 2380601866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28842" y="5512488"/>
            <a:ext cx="712268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GVHD: ThS. Nguyễn Mạnh Hùng</a:t>
            </a:r>
          </a:p>
        </p:txBody>
      </p:sp>
      <p:sp>
        <p:nvSpPr>
          <p:cNvPr name="Freeform 18" id="18"/>
          <p:cNvSpPr/>
          <p:nvPr/>
        </p:nvSpPr>
        <p:spPr>
          <a:xfrm flipH="true" flipV="false" rot="0">
            <a:off x="10258113" y="917794"/>
            <a:ext cx="1428416" cy="680445"/>
          </a:xfrm>
          <a:custGeom>
            <a:avLst/>
            <a:gdLst/>
            <a:ahLst/>
            <a:cxnLst/>
            <a:rect r="r" b="b" t="t" l="l"/>
            <a:pathLst>
              <a:path h="680445" w="1428416">
                <a:moveTo>
                  <a:pt x="1428416" y="0"/>
                </a:moveTo>
                <a:lnTo>
                  <a:pt x="0" y="0"/>
                </a:lnTo>
                <a:lnTo>
                  <a:pt x="0" y="680445"/>
                </a:lnTo>
                <a:lnTo>
                  <a:pt x="1428416" y="680445"/>
                </a:lnTo>
                <a:lnTo>
                  <a:pt x="142841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11491" y="2582288"/>
            <a:ext cx="937265" cy="1115791"/>
          </a:xfrm>
          <a:custGeom>
            <a:avLst/>
            <a:gdLst/>
            <a:ahLst/>
            <a:cxnLst/>
            <a:rect r="r" b="b" t="t" l="l"/>
            <a:pathLst>
              <a:path h="1115791" w="937265">
                <a:moveTo>
                  <a:pt x="0" y="0"/>
                </a:moveTo>
                <a:lnTo>
                  <a:pt x="937264" y="0"/>
                </a:lnTo>
                <a:lnTo>
                  <a:pt x="937264" y="1115791"/>
                </a:lnTo>
                <a:lnTo>
                  <a:pt x="0" y="11157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07178" y="9039041"/>
            <a:ext cx="8162329" cy="1592157"/>
            <a:chOff x="0" y="0"/>
            <a:chExt cx="2149749" cy="4193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49749" cy="419334"/>
            </a:xfrm>
            <a:custGeom>
              <a:avLst/>
              <a:gdLst/>
              <a:ahLst/>
              <a:cxnLst/>
              <a:rect r="r" b="b" t="t" l="l"/>
              <a:pathLst>
                <a:path h="419334" w="2149749">
                  <a:moveTo>
                    <a:pt x="15176" y="0"/>
                  </a:moveTo>
                  <a:lnTo>
                    <a:pt x="2134573" y="0"/>
                  </a:lnTo>
                  <a:cubicBezTo>
                    <a:pt x="2138598" y="0"/>
                    <a:pt x="2142458" y="1599"/>
                    <a:pt x="2145304" y="4445"/>
                  </a:cubicBezTo>
                  <a:cubicBezTo>
                    <a:pt x="2148150" y="7291"/>
                    <a:pt x="2149749" y="11151"/>
                    <a:pt x="2149749" y="15176"/>
                  </a:cubicBezTo>
                  <a:lnTo>
                    <a:pt x="2149749" y="404158"/>
                  </a:lnTo>
                  <a:cubicBezTo>
                    <a:pt x="2149749" y="408183"/>
                    <a:pt x="2148150" y="412043"/>
                    <a:pt x="2145304" y="414889"/>
                  </a:cubicBezTo>
                  <a:cubicBezTo>
                    <a:pt x="2142458" y="417735"/>
                    <a:pt x="2138598" y="419334"/>
                    <a:pt x="2134573" y="419334"/>
                  </a:cubicBezTo>
                  <a:lnTo>
                    <a:pt x="15176" y="419334"/>
                  </a:lnTo>
                  <a:cubicBezTo>
                    <a:pt x="6794" y="419334"/>
                    <a:pt x="0" y="412539"/>
                    <a:pt x="0" y="404158"/>
                  </a:cubicBezTo>
                  <a:lnTo>
                    <a:pt x="0" y="15176"/>
                  </a:lnTo>
                  <a:cubicBezTo>
                    <a:pt x="0" y="11151"/>
                    <a:pt x="1599" y="7291"/>
                    <a:pt x="4445" y="4445"/>
                  </a:cubicBezTo>
                  <a:cubicBezTo>
                    <a:pt x="7291" y="1599"/>
                    <a:pt x="11151" y="0"/>
                    <a:pt x="151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0"/>
                  </a:srgbClr>
                </a:gs>
                <a:gs pos="100000">
                  <a:srgbClr val="00306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149749" cy="47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923912" y="-250852"/>
            <a:ext cx="8741633" cy="1132122"/>
            <a:chOff x="0" y="0"/>
            <a:chExt cx="2302323" cy="2981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02323" cy="298172"/>
            </a:xfrm>
            <a:custGeom>
              <a:avLst/>
              <a:gdLst/>
              <a:ahLst/>
              <a:cxnLst/>
              <a:rect r="r" b="b" t="t" l="l"/>
              <a:pathLst>
                <a:path h="298172" w="2302323">
                  <a:moveTo>
                    <a:pt x="14170" y="0"/>
                  </a:moveTo>
                  <a:lnTo>
                    <a:pt x="2288153" y="0"/>
                  </a:lnTo>
                  <a:cubicBezTo>
                    <a:pt x="2291911" y="0"/>
                    <a:pt x="2295515" y="1493"/>
                    <a:pt x="2298173" y="4150"/>
                  </a:cubicBezTo>
                  <a:cubicBezTo>
                    <a:pt x="2300830" y="6808"/>
                    <a:pt x="2302323" y="10412"/>
                    <a:pt x="2302323" y="14170"/>
                  </a:cubicBezTo>
                  <a:lnTo>
                    <a:pt x="2302323" y="284002"/>
                  </a:lnTo>
                  <a:cubicBezTo>
                    <a:pt x="2302323" y="287760"/>
                    <a:pt x="2300830" y="291364"/>
                    <a:pt x="2298173" y="294022"/>
                  </a:cubicBezTo>
                  <a:cubicBezTo>
                    <a:pt x="2295515" y="296679"/>
                    <a:pt x="2291911" y="298172"/>
                    <a:pt x="2288153" y="298172"/>
                  </a:cubicBezTo>
                  <a:lnTo>
                    <a:pt x="14170" y="298172"/>
                  </a:lnTo>
                  <a:cubicBezTo>
                    <a:pt x="10412" y="298172"/>
                    <a:pt x="6808" y="296679"/>
                    <a:pt x="4150" y="294022"/>
                  </a:cubicBezTo>
                  <a:cubicBezTo>
                    <a:pt x="1493" y="291364"/>
                    <a:pt x="0" y="287760"/>
                    <a:pt x="0" y="284002"/>
                  </a:cubicBezTo>
                  <a:lnTo>
                    <a:pt x="0" y="14170"/>
                  </a:lnTo>
                  <a:cubicBezTo>
                    <a:pt x="0" y="10412"/>
                    <a:pt x="1493" y="6808"/>
                    <a:pt x="4150" y="4150"/>
                  </a:cubicBezTo>
                  <a:cubicBezTo>
                    <a:pt x="6808" y="1493"/>
                    <a:pt x="10412" y="0"/>
                    <a:pt x="141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2302323" cy="355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false" rot="0">
            <a:off x="14242600" y="9039041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64416" y="7571678"/>
            <a:ext cx="2675777" cy="679211"/>
          </a:xfrm>
          <a:custGeom>
            <a:avLst/>
            <a:gdLst/>
            <a:ahLst/>
            <a:cxnLst/>
            <a:rect r="r" b="b" t="t" l="l"/>
            <a:pathLst>
              <a:path h="679211" w="2675777">
                <a:moveTo>
                  <a:pt x="0" y="0"/>
                </a:moveTo>
                <a:lnTo>
                  <a:pt x="2675777" y="0"/>
                </a:lnTo>
                <a:lnTo>
                  <a:pt x="2675777" y="679211"/>
                </a:lnTo>
                <a:lnTo>
                  <a:pt x="0" y="6792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620235" y="4278836"/>
            <a:ext cx="1119776" cy="1119776"/>
          </a:xfrm>
          <a:custGeom>
            <a:avLst/>
            <a:gdLst/>
            <a:ahLst/>
            <a:cxnLst/>
            <a:rect r="r" b="b" t="t" l="l"/>
            <a:pathLst>
              <a:path h="1119776" w="1119776">
                <a:moveTo>
                  <a:pt x="0" y="0"/>
                </a:moveTo>
                <a:lnTo>
                  <a:pt x="1119776" y="0"/>
                </a:lnTo>
                <a:lnTo>
                  <a:pt x="1119776" y="1119775"/>
                </a:lnTo>
                <a:lnTo>
                  <a:pt x="0" y="11197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620235" y="6333841"/>
            <a:ext cx="1119776" cy="996600"/>
          </a:xfrm>
          <a:custGeom>
            <a:avLst/>
            <a:gdLst/>
            <a:ahLst/>
            <a:cxnLst/>
            <a:rect r="r" b="b" t="t" l="l"/>
            <a:pathLst>
              <a:path h="996600" w="1119776">
                <a:moveTo>
                  <a:pt x="0" y="0"/>
                </a:moveTo>
                <a:lnTo>
                  <a:pt x="1119776" y="0"/>
                </a:lnTo>
                <a:lnTo>
                  <a:pt x="1119776" y="996600"/>
                </a:lnTo>
                <a:lnTo>
                  <a:pt x="0" y="9966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70941" y="3163355"/>
            <a:ext cx="5845824" cy="87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7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ĐẶT VẤN ĐỀ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0941" y="4189424"/>
            <a:ext cx="5501829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Một mô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hình trong Blender xuất hiện trên điện thoại như thế nào?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150725" y="2525138"/>
            <a:ext cx="576875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Ả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nh 2D thể hiện vật thể từ một góc nhìn cố định.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150725" y="4221686"/>
            <a:ext cx="576875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Mô hì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nh 3D cho phép quan sát nhiều góc và tương tác trực tiếp.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150725" y="6046311"/>
            <a:ext cx="5768759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Đưa 3D vào ứng dụng cầ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 giải quyết việc tạo mô hình, hiển thị và tối ưu hiệu năng.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7178" y="9039041"/>
            <a:ext cx="8162329" cy="1592157"/>
            <a:chOff x="0" y="0"/>
            <a:chExt cx="2149749" cy="4193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9749" cy="419334"/>
            </a:xfrm>
            <a:custGeom>
              <a:avLst/>
              <a:gdLst/>
              <a:ahLst/>
              <a:cxnLst/>
              <a:rect r="r" b="b" t="t" l="l"/>
              <a:pathLst>
                <a:path h="419334" w="2149749">
                  <a:moveTo>
                    <a:pt x="15176" y="0"/>
                  </a:moveTo>
                  <a:lnTo>
                    <a:pt x="2134573" y="0"/>
                  </a:lnTo>
                  <a:cubicBezTo>
                    <a:pt x="2138598" y="0"/>
                    <a:pt x="2142458" y="1599"/>
                    <a:pt x="2145304" y="4445"/>
                  </a:cubicBezTo>
                  <a:cubicBezTo>
                    <a:pt x="2148150" y="7291"/>
                    <a:pt x="2149749" y="11151"/>
                    <a:pt x="2149749" y="15176"/>
                  </a:cubicBezTo>
                  <a:lnTo>
                    <a:pt x="2149749" y="404158"/>
                  </a:lnTo>
                  <a:cubicBezTo>
                    <a:pt x="2149749" y="408183"/>
                    <a:pt x="2148150" y="412043"/>
                    <a:pt x="2145304" y="414889"/>
                  </a:cubicBezTo>
                  <a:cubicBezTo>
                    <a:pt x="2142458" y="417735"/>
                    <a:pt x="2138598" y="419334"/>
                    <a:pt x="2134573" y="419334"/>
                  </a:cubicBezTo>
                  <a:lnTo>
                    <a:pt x="15176" y="419334"/>
                  </a:lnTo>
                  <a:cubicBezTo>
                    <a:pt x="6794" y="419334"/>
                    <a:pt x="0" y="412539"/>
                    <a:pt x="0" y="404158"/>
                  </a:cubicBezTo>
                  <a:lnTo>
                    <a:pt x="0" y="15176"/>
                  </a:lnTo>
                  <a:cubicBezTo>
                    <a:pt x="0" y="11151"/>
                    <a:pt x="1599" y="7291"/>
                    <a:pt x="4445" y="4445"/>
                  </a:cubicBezTo>
                  <a:cubicBezTo>
                    <a:pt x="7291" y="1599"/>
                    <a:pt x="11151" y="0"/>
                    <a:pt x="151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0"/>
                  </a:srgbClr>
                </a:gs>
                <a:gs pos="100000">
                  <a:srgbClr val="00306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149749" cy="47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23912" y="-250852"/>
            <a:ext cx="8741633" cy="1132122"/>
            <a:chOff x="0" y="0"/>
            <a:chExt cx="2302323" cy="2981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2323" cy="298172"/>
            </a:xfrm>
            <a:custGeom>
              <a:avLst/>
              <a:gdLst/>
              <a:ahLst/>
              <a:cxnLst/>
              <a:rect r="r" b="b" t="t" l="l"/>
              <a:pathLst>
                <a:path h="298172" w="2302323">
                  <a:moveTo>
                    <a:pt x="14170" y="0"/>
                  </a:moveTo>
                  <a:lnTo>
                    <a:pt x="2288153" y="0"/>
                  </a:lnTo>
                  <a:cubicBezTo>
                    <a:pt x="2291911" y="0"/>
                    <a:pt x="2295515" y="1493"/>
                    <a:pt x="2298173" y="4150"/>
                  </a:cubicBezTo>
                  <a:cubicBezTo>
                    <a:pt x="2300830" y="6808"/>
                    <a:pt x="2302323" y="10412"/>
                    <a:pt x="2302323" y="14170"/>
                  </a:cubicBezTo>
                  <a:lnTo>
                    <a:pt x="2302323" y="284002"/>
                  </a:lnTo>
                  <a:cubicBezTo>
                    <a:pt x="2302323" y="287760"/>
                    <a:pt x="2300830" y="291364"/>
                    <a:pt x="2298173" y="294022"/>
                  </a:cubicBezTo>
                  <a:cubicBezTo>
                    <a:pt x="2295515" y="296679"/>
                    <a:pt x="2291911" y="298172"/>
                    <a:pt x="2288153" y="298172"/>
                  </a:cubicBezTo>
                  <a:lnTo>
                    <a:pt x="14170" y="298172"/>
                  </a:lnTo>
                  <a:cubicBezTo>
                    <a:pt x="10412" y="298172"/>
                    <a:pt x="6808" y="296679"/>
                    <a:pt x="4150" y="294022"/>
                  </a:cubicBezTo>
                  <a:cubicBezTo>
                    <a:pt x="1493" y="291364"/>
                    <a:pt x="0" y="287760"/>
                    <a:pt x="0" y="284002"/>
                  </a:cubicBezTo>
                  <a:lnTo>
                    <a:pt x="0" y="14170"/>
                  </a:lnTo>
                  <a:cubicBezTo>
                    <a:pt x="0" y="10412"/>
                    <a:pt x="1493" y="6808"/>
                    <a:pt x="4150" y="4150"/>
                  </a:cubicBezTo>
                  <a:cubicBezTo>
                    <a:pt x="6808" y="1493"/>
                    <a:pt x="10412" y="0"/>
                    <a:pt x="141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302323" cy="355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4242600" y="9039041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64416" y="7571678"/>
            <a:ext cx="2675777" cy="679211"/>
          </a:xfrm>
          <a:custGeom>
            <a:avLst/>
            <a:gdLst/>
            <a:ahLst/>
            <a:cxnLst/>
            <a:rect r="r" b="b" t="t" l="l"/>
            <a:pathLst>
              <a:path h="679211" w="2675777">
                <a:moveTo>
                  <a:pt x="0" y="0"/>
                </a:moveTo>
                <a:lnTo>
                  <a:pt x="2675777" y="0"/>
                </a:lnTo>
                <a:lnTo>
                  <a:pt x="2675777" y="679211"/>
                </a:lnTo>
                <a:lnTo>
                  <a:pt x="0" y="679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89920" y="4055407"/>
            <a:ext cx="5845824" cy="87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7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MỤC TIÊU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58828" y="3245024"/>
            <a:ext cx="9317985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Hiểu khái niệm và cấu trúc mô hì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nh 3D.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Biết các phương pháp và công cụ tạo mô hình.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Nắm nguyên lý Polygon Modeling trong Blender.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Hiểu quy trình đưa mô hình 3D vào ứng dụng.</a:t>
            </a:r>
          </a:p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Biết cách tích hợp, hiển thị và tương tác 3D trên di động.</a:t>
            </a:r>
          </a:p>
          <a:p>
            <a:pPr algn="l">
              <a:lnSpc>
                <a:spcPts val="42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63488" y="6381111"/>
            <a:ext cx="6268137" cy="2804902"/>
            <a:chOff x="0" y="0"/>
            <a:chExt cx="1650867" cy="7387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50867" cy="738740"/>
            </a:xfrm>
            <a:custGeom>
              <a:avLst/>
              <a:gdLst/>
              <a:ahLst/>
              <a:cxnLst/>
              <a:rect r="r" b="b" t="t" l="l"/>
              <a:pathLst>
                <a:path h="738740" w="1650867">
                  <a:moveTo>
                    <a:pt x="0" y="0"/>
                  </a:moveTo>
                  <a:lnTo>
                    <a:pt x="1650867" y="0"/>
                  </a:lnTo>
                  <a:lnTo>
                    <a:pt x="1650867" y="738740"/>
                  </a:lnTo>
                  <a:lnTo>
                    <a:pt x="0" y="738740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650867" cy="7958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864416" y="6006826"/>
            <a:ext cx="6201396" cy="2853698"/>
            <a:chOff x="0" y="0"/>
            <a:chExt cx="1665934" cy="76661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65934" cy="766613"/>
            </a:xfrm>
            <a:custGeom>
              <a:avLst/>
              <a:gdLst/>
              <a:ahLst/>
              <a:cxnLst/>
              <a:rect r="r" b="b" t="t" l="l"/>
              <a:pathLst>
                <a:path h="766613" w="1665934">
                  <a:moveTo>
                    <a:pt x="0" y="0"/>
                  </a:moveTo>
                  <a:lnTo>
                    <a:pt x="1665934" y="0"/>
                  </a:lnTo>
                  <a:lnTo>
                    <a:pt x="1665934" y="766613"/>
                  </a:lnTo>
                  <a:lnTo>
                    <a:pt x="0" y="766613"/>
                  </a:lnTo>
                  <a:close/>
                </a:path>
              </a:pathLst>
            </a:custGeom>
            <a:blipFill>
              <a:blip r:embed="rId3"/>
              <a:stretch>
                <a:fillRect l="0" t="-13020" r="0" b="-1302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-577455" y="-718081"/>
            <a:ext cx="19187335" cy="1424124"/>
            <a:chOff x="0" y="0"/>
            <a:chExt cx="5053454" cy="3750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53454" cy="375078"/>
            </a:xfrm>
            <a:custGeom>
              <a:avLst/>
              <a:gdLst/>
              <a:ahLst/>
              <a:cxnLst/>
              <a:rect r="r" b="b" t="t" l="l"/>
              <a:pathLst>
                <a:path h="375078" w="5053454">
                  <a:moveTo>
                    <a:pt x="0" y="0"/>
                  </a:moveTo>
                  <a:lnTo>
                    <a:pt x="5053454" y="0"/>
                  </a:lnTo>
                  <a:lnTo>
                    <a:pt x="5053454" y="375078"/>
                  </a:lnTo>
                  <a:lnTo>
                    <a:pt x="0" y="375078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53454" cy="432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449668" y="9595588"/>
            <a:ext cx="19187335" cy="1424124"/>
            <a:chOff x="0" y="0"/>
            <a:chExt cx="5053454" cy="3750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53454" cy="375078"/>
            </a:xfrm>
            <a:custGeom>
              <a:avLst/>
              <a:gdLst/>
              <a:ahLst/>
              <a:cxnLst/>
              <a:rect r="r" b="b" t="t" l="l"/>
              <a:pathLst>
                <a:path h="375078" w="5053454">
                  <a:moveTo>
                    <a:pt x="0" y="0"/>
                  </a:moveTo>
                  <a:lnTo>
                    <a:pt x="5053454" y="0"/>
                  </a:lnTo>
                  <a:lnTo>
                    <a:pt x="5053454" y="375078"/>
                  </a:lnTo>
                  <a:lnTo>
                    <a:pt x="0" y="375078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5053454" cy="4322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true" flipV="false" rot="0">
            <a:off x="14778888" y="1547250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541025" y="2092637"/>
            <a:ext cx="5089985" cy="87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99"/>
              </a:lnSpc>
            </a:pPr>
            <a:r>
              <a:rPr lang="en-US" sz="67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NỘI DUNG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561418" y="3469473"/>
            <a:ext cx="817854" cy="720378"/>
            <a:chOff x="0" y="0"/>
            <a:chExt cx="215402" cy="18972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5402" cy="189729"/>
            </a:xfrm>
            <a:custGeom>
              <a:avLst/>
              <a:gdLst/>
              <a:ahLst/>
              <a:cxnLst/>
              <a:rect r="r" b="b" t="t" l="l"/>
              <a:pathLst>
                <a:path h="189729" w="215402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561418" y="4581555"/>
            <a:ext cx="817854" cy="720378"/>
            <a:chOff x="0" y="0"/>
            <a:chExt cx="215402" cy="18972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5402" cy="189729"/>
            </a:xfrm>
            <a:custGeom>
              <a:avLst/>
              <a:gdLst/>
              <a:ahLst/>
              <a:cxnLst/>
              <a:rect r="r" b="b" t="t" l="l"/>
              <a:pathLst>
                <a:path h="189729" w="215402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02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2554809" y="3424614"/>
            <a:ext cx="5531395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Tổng quan về mô hình 3D và cấu t</a:t>
            </a: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rúc Mesh.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54809" y="4697269"/>
            <a:ext cx="5814000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Các phương pháp tạo</a:t>
            </a: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mô hình 3D.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364919" y="2830646"/>
            <a:ext cx="817854" cy="720378"/>
            <a:chOff x="0" y="0"/>
            <a:chExt cx="215402" cy="1897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5402" cy="189729"/>
            </a:xfrm>
            <a:custGeom>
              <a:avLst/>
              <a:gdLst/>
              <a:ahLst/>
              <a:cxnLst/>
              <a:rect r="r" b="b" t="t" l="l"/>
              <a:pathLst>
                <a:path h="189729" w="215402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03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364919" y="3665325"/>
            <a:ext cx="817854" cy="720378"/>
            <a:chOff x="0" y="0"/>
            <a:chExt cx="215402" cy="18972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5402" cy="189729"/>
            </a:xfrm>
            <a:custGeom>
              <a:avLst/>
              <a:gdLst/>
              <a:ahLst/>
              <a:cxnLst/>
              <a:rect r="r" b="b" t="t" l="l"/>
              <a:pathLst>
                <a:path h="189729" w="215402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64919" y="4500003"/>
            <a:ext cx="817854" cy="720378"/>
            <a:chOff x="0" y="0"/>
            <a:chExt cx="215402" cy="18972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5402" cy="189729"/>
            </a:xfrm>
            <a:custGeom>
              <a:avLst/>
              <a:gdLst/>
              <a:ahLst/>
              <a:cxnLst/>
              <a:rect r="r" b="b" t="t" l="l"/>
              <a:pathLst>
                <a:path h="189729" w="215402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05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364919" y="5334681"/>
            <a:ext cx="817854" cy="720378"/>
            <a:chOff x="0" y="0"/>
            <a:chExt cx="215402" cy="18972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15402" cy="189729"/>
            </a:xfrm>
            <a:custGeom>
              <a:avLst/>
              <a:gdLst/>
              <a:ahLst/>
              <a:cxnLst/>
              <a:rect r="r" b="b" t="t" l="l"/>
              <a:pathLst>
                <a:path h="189729" w="215402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06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64919" y="6169360"/>
            <a:ext cx="817854" cy="720378"/>
            <a:chOff x="0" y="0"/>
            <a:chExt cx="215402" cy="18972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15402" cy="189729"/>
            </a:xfrm>
            <a:custGeom>
              <a:avLst/>
              <a:gdLst/>
              <a:ahLst/>
              <a:cxnLst/>
              <a:rect r="r" b="b" t="t" l="l"/>
              <a:pathLst>
                <a:path h="189729" w="215402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07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358310" y="2946361"/>
            <a:ext cx="5301545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Polygon Modeling và Blend</a:t>
            </a: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er.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358310" y="3781039"/>
            <a:ext cx="6516253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Quy t</a:t>
            </a: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rình tạo tài nguyên 3D.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358310" y="4615717"/>
            <a:ext cx="4978888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Định dạ</a:t>
            </a: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ng glTF/GLB.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358310" y="5450396"/>
            <a:ext cx="6307475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Tích hợp 3D</a:t>
            </a: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vào ứng dụng di động.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358310" y="6285074"/>
            <a:ext cx="6516253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Three.js, WebGL và tích hợp Flutter.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364919" y="7004038"/>
            <a:ext cx="817854" cy="720378"/>
            <a:chOff x="0" y="0"/>
            <a:chExt cx="215402" cy="189729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15402" cy="189729"/>
            </a:xfrm>
            <a:custGeom>
              <a:avLst/>
              <a:gdLst/>
              <a:ahLst/>
              <a:cxnLst/>
              <a:rect r="r" b="b" t="t" l="l"/>
              <a:pathLst>
                <a:path h="189729" w="215402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08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0358310" y="7119752"/>
            <a:ext cx="6876870" cy="86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Hiệu năng và</a:t>
            </a: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tối ưu hóa.</a:t>
            </a:r>
          </a:p>
          <a:p>
            <a:pPr algn="l">
              <a:lnSpc>
                <a:spcPts val="3500"/>
              </a:lnSpc>
            </a:pPr>
          </a:p>
        </p:txBody>
      </p:sp>
      <p:grpSp>
        <p:nvGrpSpPr>
          <p:cNvPr name="Group 49" id="49"/>
          <p:cNvGrpSpPr/>
          <p:nvPr/>
        </p:nvGrpSpPr>
        <p:grpSpPr>
          <a:xfrm rot="0">
            <a:off x="9364919" y="7838716"/>
            <a:ext cx="817854" cy="720378"/>
            <a:chOff x="0" y="0"/>
            <a:chExt cx="215402" cy="18972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5402" cy="189729"/>
            </a:xfrm>
            <a:custGeom>
              <a:avLst/>
              <a:gdLst/>
              <a:ahLst/>
              <a:cxnLst/>
              <a:rect r="r" b="b" t="t" l="l"/>
              <a:pathLst>
                <a:path h="189729" w="215402">
                  <a:moveTo>
                    <a:pt x="94865" y="0"/>
                  </a:moveTo>
                  <a:lnTo>
                    <a:pt x="120537" y="0"/>
                  </a:lnTo>
                  <a:cubicBezTo>
                    <a:pt x="145697" y="0"/>
                    <a:pt x="169826" y="9995"/>
                    <a:pt x="187617" y="27785"/>
                  </a:cubicBezTo>
                  <a:cubicBezTo>
                    <a:pt x="205407" y="45576"/>
                    <a:pt x="215402" y="69705"/>
                    <a:pt x="215402" y="94865"/>
                  </a:cubicBezTo>
                  <a:lnTo>
                    <a:pt x="215402" y="94865"/>
                  </a:lnTo>
                  <a:cubicBezTo>
                    <a:pt x="215402" y="147257"/>
                    <a:pt x="172930" y="189729"/>
                    <a:pt x="120537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215402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09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10358310" y="7954431"/>
            <a:ext cx="5491343" cy="431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Demo: Khối Rubik 3D.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33330" y="-2501135"/>
            <a:ext cx="19118434" cy="3988725"/>
            <a:chOff x="0" y="0"/>
            <a:chExt cx="5035308" cy="10505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35308" cy="1050528"/>
            </a:xfrm>
            <a:custGeom>
              <a:avLst/>
              <a:gdLst/>
              <a:ahLst/>
              <a:cxnLst/>
              <a:rect r="r" b="b" t="t" l="l"/>
              <a:pathLst>
                <a:path h="1050528" w="5035308">
                  <a:moveTo>
                    <a:pt x="0" y="0"/>
                  </a:moveTo>
                  <a:lnTo>
                    <a:pt x="5035308" y="0"/>
                  </a:lnTo>
                  <a:lnTo>
                    <a:pt x="5035308" y="1050528"/>
                  </a:lnTo>
                  <a:lnTo>
                    <a:pt x="0" y="1050528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35308" cy="1107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62275" y="4597711"/>
            <a:ext cx="8197025" cy="4660589"/>
            <a:chOff x="0" y="0"/>
            <a:chExt cx="1259540" cy="7161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9539" cy="716137"/>
            </a:xfrm>
            <a:custGeom>
              <a:avLst/>
              <a:gdLst/>
              <a:ahLst/>
              <a:cxnLst/>
              <a:rect r="r" b="b" t="t" l="l"/>
              <a:pathLst>
                <a:path h="716137" w="1259539">
                  <a:moveTo>
                    <a:pt x="0" y="0"/>
                  </a:moveTo>
                  <a:lnTo>
                    <a:pt x="1259539" y="0"/>
                  </a:lnTo>
                  <a:lnTo>
                    <a:pt x="1259539" y="716137"/>
                  </a:lnTo>
                  <a:lnTo>
                    <a:pt x="0" y="716137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59540" cy="773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17588" y="3877684"/>
            <a:ext cx="8378492" cy="4891321"/>
            <a:chOff x="0" y="0"/>
            <a:chExt cx="1313155" cy="7666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3155" cy="766613"/>
            </a:xfrm>
            <a:custGeom>
              <a:avLst/>
              <a:gdLst/>
              <a:ahLst/>
              <a:cxnLst/>
              <a:rect r="r" b="b" t="t" l="l"/>
              <a:pathLst>
                <a:path h="766613" w="1313155">
                  <a:moveTo>
                    <a:pt x="0" y="0"/>
                  </a:moveTo>
                  <a:lnTo>
                    <a:pt x="1313155" y="0"/>
                  </a:lnTo>
                  <a:lnTo>
                    <a:pt x="1313155" y="766613"/>
                  </a:lnTo>
                  <a:lnTo>
                    <a:pt x="0" y="766613"/>
                  </a:lnTo>
                  <a:close/>
                </a:path>
              </a:pathLst>
            </a:custGeom>
            <a:blipFill>
              <a:blip r:embed="rId3"/>
              <a:stretch>
                <a:fillRect l="0" t="-15751" r="0" b="-1575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true" flipV="false" rot="0">
            <a:off x="15961133" y="682566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52913" y="1445764"/>
            <a:ext cx="12745947" cy="134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1"/>
              </a:lnSpc>
            </a:pP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1. </a:t>
            </a: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TỔNG QUAN VỀ MÔ HÌNH 3D VÀ CẤU TRÚC MESH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42579" y="4314009"/>
            <a:ext cx="6959223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Biểu diễn số của đối tượng hoặc cảnh trong không gian X, Y, Z.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Hỗ trợ vật liệu, chiếu sáng và chuyển động.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Ví dụ: nhân vật game, sản phẩm, kiến trúc.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3686" y="3356349"/>
            <a:ext cx="3929062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1.1.</a:t>
            </a:r>
            <a:r>
              <a:rPr lang="en-US" b="true" sz="310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Mô hình 3D là gì?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3060"/>
                </a:solidFill>
                <a:latin typeface="Noto Sans"/>
                <a:ea typeface="Noto Sans"/>
                <a:cs typeface="Noto Sans"/>
                <a:sym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33330" y="-2501135"/>
            <a:ext cx="19118434" cy="3988725"/>
            <a:chOff x="0" y="0"/>
            <a:chExt cx="5035308" cy="10505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35308" cy="1050528"/>
            </a:xfrm>
            <a:custGeom>
              <a:avLst/>
              <a:gdLst/>
              <a:ahLst/>
              <a:cxnLst/>
              <a:rect r="r" b="b" t="t" l="l"/>
              <a:pathLst>
                <a:path h="1050528" w="5035308">
                  <a:moveTo>
                    <a:pt x="0" y="0"/>
                  </a:moveTo>
                  <a:lnTo>
                    <a:pt x="5035308" y="0"/>
                  </a:lnTo>
                  <a:lnTo>
                    <a:pt x="5035308" y="1050528"/>
                  </a:lnTo>
                  <a:lnTo>
                    <a:pt x="0" y="1050528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35308" cy="1107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62275" y="4597711"/>
            <a:ext cx="8197025" cy="4660589"/>
            <a:chOff x="0" y="0"/>
            <a:chExt cx="1259540" cy="7161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9539" cy="716137"/>
            </a:xfrm>
            <a:custGeom>
              <a:avLst/>
              <a:gdLst/>
              <a:ahLst/>
              <a:cxnLst/>
              <a:rect r="r" b="b" t="t" l="l"/>
              <a:pathLst>
                <a:path h="716137" w="1259539">
                  <a:moveTo>
                    <a:pt x="0" y="0"/>
                  </a:moveTo>
                  <a:lnTo>
                    <a:pt x="1259539" y="0"/>
                  </a:lnTo>
                  <a:lnTo>
                    <a:pt x="1259539" y="716137"/>
                  </a:lnTo>
                  <a:lnTo>
                    <a:pt x="0" y="716137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59540" cy="773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17588" y="3877684"/>
            <a:ext cx="8378492" cy="4891321"/>
            <a:chOff x="0" y="0"/>
            <a:chExt cx="1313155" cy="7666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3155" cy="766613"/>
            </a:xfrm>
            <a:custGeom>
              <a:avLst/>
              <a:gdLst/>
              <a:ahLst/>
              <a:cxnLst/>
              <a:rect r="r" b="b" t="t" l="l"/>
              <a:pathLst>
                <a:path h="766613" w="1313155">
                  <a:moveTo>
                    <a:pt x="0" y="0"/>
                  </a:moveTo>
                  <a:lnTo>
                    <a:pt x="1313155" y="0"/>
                  </a:lnTo>
                  <a:lnTo>
                    <a:pt x="1313155" y="766613"/>
                  </a:lnTo>
                  <a:lnTo>
                    <a:pt x="0" y="766613"/>
                  </a:lnTo>
                  <a:close/>
                </a:path>
              </a:pathLst>
            </a:custGeom>
            <a:blipFill>
              <a:blip r:embed="rId3"/>
              <a:stretch>
                <a:fillRect l="0" t="-15751" r="0" b="-1575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true" flipV="false" rot="0">
            <a:off x="15961133" y="682566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52913" y="1445764"/>
            <a:ext cx="12745947" cy="134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1"/>
              </a:lnSpc>
            </a:pP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1. </a:t>
            </a: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TỔNG QUAN VỀ MÔ HÌNH 3D VÀ CẤU TRÚC MESH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0539" y="3820534"/>
            <a:ext cx="6959223" cy="5848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Mesh là lướ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i tạo nên bề mặt vật thể, gồm: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Vertex (đỉnh): điểm trong không gian 3D.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Edge (cạnh): nối hai đỉnh.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Face (mặt): bề mặt giới hạn bởi các đỉnh và cạnh.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Khi kết xuất thời gian thực, các mặt thường chuyển thành tam giác.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142579" y="3149590"/>
            <a:ext cx="6168152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1.2.Cấu trúc mô hình dạng lưới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517588" y="3877684"/>
            <a:ext cx="8378492" cy="4891321"/>
            <a:chOff x="0" y="0"/>
            <a:chExt cx="1313155" cy="7666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3155" cy="766613"/>
            </a:xfrm>
            <a:custGeom>
              <a:avLst/>
              <a:gdLst/>
              <a:ahLst/>
              <a:cxnLst/>
              <a:rect r="r" b="b" t="t" l="l"/>
              <a:pathLst>
                <a:path h="766613" w="1313155">
                  <a:moveTo>
                    <a:pt x="0" y="0"/>
                  </a:moveTo>
                  <a:lnTo>
                    <a:pt x="1313155" y="0"/>
                  </a:lnTo>
                  <a:lnTo>
                    <a:pt x="1313155" y="766613"/>
                  </a:lnTo>
                  <a:lnTo>
                    <a:pt x="0" y="766613"/>
                  </a:lnTo>
                  <a:close/>
                </a:path>
              </a:pathLst>
            </a:custGeom>
            <a:blipFill>
              <a:blip r:embed="rId7"/>
              <a:stretch>
                <a:fillRect l="0" t="-16147" r="0" b="-16147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3060"/>
                </a:solidFill>
                <a:latin typeface="Noto Sans"/>
                <a:ea typeface="Noto Sans"/>
                <a:cs typeface="Noto Sans"/>
                <a:sym typeface="Not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33330" y="-2501135"/>
            <a:ext cx="19118434" cy="3988725"/>
            <a:chOff x="0" y="0"/>
            <a:chExt cx="5035308" cy="10505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35308" cy="1050528"/>
            </a:xfrm>
            <a:custGeom>
              <a:avLst/>
              <a:gdLst/>
              <a:ahLst/>
              <a:cxnLst/>
              <a:rect r="r" b="b" t="t" l="l"/>
              <a:pathLst>
                <a:path h="1050528" w="5035308">
                  <a:moveTo>
                    <a:pt x="0" y="0"/>
                  </a:moveTo>
                  <a:lnTo>
                    <a:pt x="5035308" y="0"/>
                  </a:lnTo>
                  <a:lnTo>
                    <a:pt x="5035308" y="1050528"/>
                  </a:lnTo>
                  <a:lnTo>
                    <a:pt x="0" y="1050528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35308" cy="1107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062275" y="4597711"/>
            <a:ext cx="8197025" cy="4660589"/>
            <a:chOff x="0" y="0"/>
            <a:chExt cx="1259540" cy="7161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9539" cy="716137"/>
            </a:xfrm>
            <a:custGeom>
              <a:avLst/>
              <a:gdLst/>
              <a:ahLst/>
              <a:cxnLst/>
              <a:rect r="r" b="b" t="t" l="l"/>
              <a:pathLst>
                <a:path h="716137" w="1259539">
                  <a:moveTo>
                    <a:pt x="0" y="0"/>
                  </a:moveTo>
                  <a:lnTo>
                    <a:pt x="1259539" y="0"/>
                  </a:lnTo>
                  <a:lnTo>
                    <a:pt x="1259539" y="716137"/>
                  </a:lnTo>
                  <a:lnTo>
                    <a:pt x="0" y="716137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59540" cy="773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17588" y="3877684"/>
            <a:ext cx="8378492" cy="4891321"/>
            <a:chOff x="0" y="0"/>
            <a:chExt cx="1313155" cy="76661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13155" cy="766613"/>
            </a:xfrm>
            <a:custGeom>
              <a:avLst/>
              <a:gdLst/>
              <a:ahLst/>
              <a:cxnLst/>
              <a:rect r="r" b="b" t="t" l="l"/>
              <a:pathLst>
                <a:path h="766613" w="1313155">
                  <a:moveTo>
                    <a:pt x="0" y="0"/>
                  </a:moveTo>
                  <a:lnTo>
                    <a:pt x="1313155" y="0"/>
                  </a:lnTo>
                  <a:lnTo>
                    <a:pt x="1313155" y="766613"/>
                  </a:lnTo>
                  <a:lnTo>
                    <a:pt x="0" y="766613"/>
                  </a:lnTo>
                  <a:close/>
                </a:path>
              </a:pathLst>
            </a:custGeom>
            <a:blipFill>
              <a:blip r:embed="rId3"/>
              <a:stretch>
                <a:fillRect l="0" t="-15751" r="0" b="-1575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true" flipV="false" rot="0">
            <a:off x="15961133" y="682566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52913" y="1445764"/>
            <a:ext cx="12745947" cy="1345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1"/>
              </a:lnSpc>
            </a:pP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1. </a:t>
            </a: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TỔNG QUAN VỀ MÔ HÌNH 3D VÀ CẤU TRÚC MESH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029358"/>
            <a:ext cx="6959223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Material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: đặc tính phản ứng với ánh sáng.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exture: màu sắc và chi tiết bề mặt.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UV: ánh xạ bề mặt sang 2D để đặt texture.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Skeleton/Skin: hệ xương và liên kết giúp biến dạng.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Animation: dữ liệu chuyển động.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075774" y="3086477"/>
            <a:ext cx="7168753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1.3. Các thành phần đi kèm mô hình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517588" y="3877684"/>
            <a:ext cx="8378492" cy="4891321"/>
            <a:chOff x="0" y="0"/>
            <a:chExt cx="1313155" cy="76661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13155" cy="766613"/>
            </a:xfrm>
            <a:custGeom>
              <a:avLst/>
              <a:gdLst/>
              <a:ahLst/>
              <a:cxnLst/>
              <a:rect r="r" b="b" t="t" l="l"/>
              <a:pathLst>
                <a:path h="766613" w="1313155">
                  <a:moveTo>
                    <a:pt x="0" y="0"/>
                  </a:moveTo>
                  <a:lnTo>
                    <a:pt x="1313155" y="0"/>
                  </a:lnTo>
                  <a:lnTo>
                    <a:pt x="1313155" y="766613"/>
                  </a:lnTo>
                  <a:lnTo>
                    <a:pt x="0" y="766613"/>
                  </a:lnTo>
                  <a:close/>
                </a:path>
              </a:pathLst>
            </a:custGeom>
            <a:blipFill>
              <a:blip r:embed="rId7"/>
              <a:stretch>
                <a:fillRect l="0" t="-16147" r="0" b="-16147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517588" y="3919586"/>
            <a:ext cx="8378492" cy="4891321"/>
            <a:chOff x="0" y="0"/>
            <a:chExt cx="1313155" cy="76661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13155" cy="766613"/>
            </a:xfrm>
            <a:custGeom>
              <a:avLst/>
              <a:gdLst/>
              <a:ahLst/>
              <a:cxnLst/>
              <a:rect r="r" b="b" t="t" l="l"/>
              <a:pathLst>
                <a:path h="766613" w="1313155">
                  <a:moveTo>
                    <a:pt x="0" y="0"/>
                  </a:moveTo>
                  <a:lnTo>
                    <a:pt x="1313155" y="0"/>
                  </a:lnTo>
                  <a:lnTo>
                    <a:pt x="1313155" y="766613"/>
                  </a:lnTo>
                  <a:lnTo>
                    <a:pt x="0" y="766613"/>
                  </a:lnTo>
                  <a:close/>
                </a:path>
              </a:pathLst>
            </a:custGeom>
            <a:blipFill>
              <a:blip r:embed="rId8"/>
              <a:stretch>
                <a:fillRect l="0" t="-16070" r="0" b="-1607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3060"/>
                </a:solidFill>
                <a:latin typeface="Noto Sans"/>
                <a:ea typeface="Noto Sans"/>
                <a:cs typeface="Noto Sans"/>
                <a:sym typeface="Not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898156" y="-266642"/>
            <a:ext cx="1433381" cy="10820284"/>
            <a:chOff x="0" y="0"/>
            <a:chExt cx="377516" cy="28497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7516" cy="2849787"/>
            </a:xfrm>
            <a:custGeom>
              <a:avLst/>
              <a:gdLst/>
              <a:ahLst/>
              <a:cxnLst/>
              <a:rect r="r" b="b" t="t" l="l"/>
              <a:pathLst>
                <a:path h="2849787" w="377516">
                  <a:moveTo>
                    <a:pt x="86419" y="0"/>
                  </a:moveTo>
                  <a:lnTo>
                    <a:pt x="291097" y="0"/>
                  </a:lnTo>
                  <a:cubicBezTo>
                    <a:pt x="338825" y="0"/>
                    <a:pt x="377516" y="38691"/>
                    <a:pt x="377516" y="86419"/>
                  </a:cubicBezTo>
                  <a:lnTo>
                    <a:pt x="377516" y="2763368"/>
                  </a:lnTo>
                  <a:cubicBezTo>
                    <a:pt x="377516" y="2811096"/>
                    <a:pt x="338825" y="2849787"/>
                    <a:pt x="291097" y="2849787"/>
                  </a:cubicBezTo>
                  <a:lnTo>
                    <a:pt x="86419" y="2849787"/>
                  </a:lnTo>
                  <a:cubicBezTo>
                    <a:pt x="38691" y="2849787"/>
                    <a:pt x="0" y="2811096"/>
                    <a:pt x="0" y="2763368"/>
                  </a:cubicBezTo>
                  <a:lnTo>
                    <a:pt x="0" y="86419"/>
                  </a:lnTo>
                  <a:cubicBezTo>
                    <a:pt x="0" y="38691"/>
                    <a:pt x="38691" y="0"/>
                    <a:pt x="864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77516" cy="2906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756933" y="-1312975"/>
            <a:ext cx="1433381" cy="4683349"/>
            <a:chOff x="0" y="0"/>
            <a:chExt cx="377516" cy="1233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516" cy="1233475"/>
            </a:xfrm>
            <a:custGeom>
              <a:avLst/>
              <a:gdLst/>
              <a:ahLst/>
              <a:cxnLst/>
              <a:rect r="r" b="b" t="t" l="l"/>
              <a:pathLst>
                <a:path h="1233475" w="377516">
                  <a:moveTo>
                    <a:pt x="86419" y="0"/>
                  </a:moveTo>
                  <a:lnTo>
                    <a:pt x="291097" y="0"/>
                  </a:lnTo>
                  <a:cubicBezTo>
                    <a:pt x="338825" y="0"/>
                    <a:pt x="377516" y="38691"/>
                    <a:pt x="377516" y="86419"/>
                  </a:cubicBezTo>
                  <a:lnTo>
                    <a:pt x="377516" y="1147056"/>
                  </a:lnTo>
                  <a:cubicBezTo>
                    <a:pt x="377516" y="1194784"/>
                    <a:pt x="338825" y="1233475"/>
                    <a:pt x="291097" y="1233475"/>
                  </a:cubicBezTo>
                  <a:lnTo>
                    <a:pt x="86419" y="1233475"/>
                  </a:lnTo>
                  <a:cubicBezTo>
                    <a:pt x="38691" y="1233475"/>
                    <a:pt x="0" y="1194784"/>
                    <a:pt x="0" y="1147056"/>
                  </a:cubicBezTo>
                  <a:lnTo>
                    <a:pt x="0" y="86419"/>
                  </a:lnTo>
                  <a:cubicBezTo>
                    <a:pt x="0" y="38691"/>
                    <a:pt x="38691" y="0"/>
                    <a:pt x="864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77516" cy="129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4639355" y="8790306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255095" y="3039821"/>
            <a:ext cx="1182312" cy="1159129"/>
          </a:xfrm>
          <a:custGeom>
            <a:avLst/>
            <a:gdLst/>
            <a:ahLst/>
            <a:cxnLst/>
            <a:rect r="r" b="b" t="t" l="l"/>
            <a:pathLst>
              <a:path h="1159129" w="1182312">
                <a:moveTo>
                  <a:pt x="0" y="0"/>
                </a:moveTo>
                <a:lnTo>
                  <a:pt x="1182312" y="0"/>
                </a:lnTo>
                <a:lnTo>
                  <a:pt x="1182312" y="1159130"/>
                </a:lnTo>
                <a:lnTo>
                  <a:pt x="0" y="1159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2255095" y="5077120"/>
            <a:ext cx="1182312" cy="1208586"/>
          </a:xfrm>
          <a:custGeom>
            <a:avLst/>
            <a:gdLst/>
            <a:ahLst/>
            <a:cxnLst/>
            <a:rect r="r" b="b" t="t" l="l"/>
            <a:pathLst>
              <a:path h="1208586" w="1182312">
                <a:moveTo>
                  <a:pt x="0" y="0"/>
                </a:moveTo>
                <a:lnTo>
                  <a:pt x="1182312" y="0"/>
                </a:lnTo>
                <a:lnTo>
                  <a:pt x="1182312" y="1208585"/>
                </a:lnTo>
                <a:lnTo>
                  <a:pt x="0" y="12085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255095" y="7261946"/>
            <a:ext cx="1182312" cy="1109926"/>
          </a:xfrm>
          <a:custGeom>
            <a:avLst/>
            <a:gdLst/>
            <a:ahLst/>
            <a:cxnLst/>
            <a:rect r="r" b="b" t="t" l="l"/>
            <a:pathLst>
              <a:path h="1109926" w="1182312">
                <a:moveTo>
                  <a:pt x="0" y="0"/>
                </a:moveTo>
                <a:lnTo>
                  <a:pt x="1182312" y="0"/>
                </a:lnTo>
                <a:lnTo>
                  <a:pt x="1182312" y="1109926"/>
                </a:lnTo>
                <a:lnTo>
                  <a:pt x="0" y="11099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9535283" y="2942058"/>
            <a:ext cx="1182312" cy="1159129"/>
          </a:xfrm>
          <a:custGeom>
            <a:avLst/>
            <a:gdLst/>
            <a:ahLst/>
            <a:cxnLst/>
            <a:rect r="r" b="b" t="t" l="l"/>
            <a:pathLst>
              <a:path h="1159129" w="1182312">
                <a:moveTo>
                  <a:pt x="0" y="0"/>
                </a:moveTo>
                <a:lnTo>
                  <a:pt x="1182312" y="0"/>
                </a:lnTo>
                <a:lnTo>
                  <a:pt x="1182312" y="1159130"/>
                </a:lnTo>
                <a:lnTo>
                  <a:pt x="0" y="11591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9535283" y="7164183"/>
            <a:ext cx="1182312" cy="1109926"/>
          </a:xfrm>
          <a:custGeom>
            <a:avLst/>
            <a:gdLst/>
            <a:ahLst/>
            <a:cxnLst/>
            <a:rect r="r" b="b" t="t" l="l"/>
            <a:pathLst>
              <a:path h="1109926" w="1182312">
                <a:moveTo>
                  <a:pt x="0" y="0"/>
                </a:moveTo>
                <a:lnTo>
                  <a:pt x="1182312" y="0"/>
                </a:lnTo>
                <a:lnTo>
                  <a:pt x="1182312" y="1109926"/>
                </a:lnTo>
                <a:lnTo>
                  <a:pt x="0" y="11099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9535283" y="2942058"/>
            <a:ext cx="1226521" cy="1159129"/>
          </a:xfrm>
          <a:custGeom>
            <a:avLst/>
            <a:gdLst/>
            <a:ahLst/>
            <a:cxnLst/>
            <a:rect r="r" b="b" t="t" l="l"/>
            <a:pathLst>
              <a:path h="1159129" w="1226521">
                <a:moveTo>
                  <a:pt x="0" y="0"/>
                </a:moveTo>
                <a:lnTo>
                  <a:pt x="1226521" y="0"/>
                </a:lnTo>
                <a:lnTo>
                  <a:pt x="1226521" y="1159130"/>
                </a:lnTo>
                <a:lnTo>
                  <a:pt x="0" y="11591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9522794" y="5080651"/>
            <a:ext cx="1239010" cy="1104068"/>
          </a:xfrm>
          <a:custGeom>
            <a:avLst/>
            <a:gdLst/>
            <a:ahLst/>
            <a:cxnLst/>
            <a:rect r="r" b="b" t="t" l="l"/>
            <a:pathLst>
              <a:path h="1104068" w="1239010">
                <a:moveTo>
                  <a:pt x="0" y="0"/>
                </a:moveTo>
                <a:lnTo>
                  <a:pt x="1239010" y="0"/>
                </a:lnTo>
                <a:lnTo>
                  <a:pt x="1239010" y="1104068"/>
                </a:lnTo>
                <a:lnTo>
                  <a:pt x="0" y="11040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18" id="18"/>
          <p:cNvSpPr/>
          <p:nvPr/>
        </p:nvSpPr>
        <p:spPr>
          <a:xfrm flipH="false" flipV="false" rot="0">
            <a:off x="9535283" y="7181310"/>
            <a:ext cx="1214221" cy="1092799"/>
          </a:xfrm>
          <a:custGeom>
            <a:avLst/>
            <a:gdLst/>
            <a:ahLst/>
            <a:cxnLst/>
            <a:rect r="r" b="b" t="t" l="l"/>
            <a:pathLst>
              <a:path h="1092799" w="1214221">
                <a:moveTo>
                  <a:pt x="0" y="0"/>
                </a:moveTo>
                <a:lnTo>
                  <a:pt x="1214221" y="0"/>
                </a:lnTo>
                <a:lnTo>
                  <a:pt x="1214221" y="1092799"/>
                </a:lnTo>
                <a:lnTo>
                  <a:pt x="0" y="10927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19" id="19"/>
          <p:cNvSpPr txBox="true"/>
          <p:nvPr/>
        </p:nvSpPr>
        <p:spPr>
          <a:xfrm rot="0">
            <a:off x="2530174" y="1442594"/>
            <a:ext cx="13377767" cy="69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1"/>
              </a:lnSpc>
            </a:pP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2.CÁC PHƯƠNG PHÁP TẠO MÔ HÌNH 3D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681511" y="3106496"/>
            <a:ext cx="5067077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2999" b="true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POLYGON MODELING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681511" y="3432251"/>
            <a:ext cx="518586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Chỉnh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sửa đỉnh, cạnh và mặt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681511" y="5046032"/>
            <a:ext cx="5067077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2999" b="true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DIGITAL SCULPTING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681511" y="5371786"/>
            <a:ext cx="518586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Điêu khắc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số, phù hợp hình dạng hữu cơ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681511" y="7230858"/>
            <a:ext cx="5067077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2999" b="true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PROCEDURAL MODELING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681511" y="7556613"/>
            <a:ext cx="518586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Tạo hình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bằng quy tắc, node hoặc thuật toán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961700" y="3008733"/>
            <a:ext cx="5067077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2999" b="true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PHOTOGRAMMETRY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961700" y="3334488"/>
            <a:ext cx="518586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Tái tạo mô hình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từ nhiều ảnh chụp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961700" y="5061099"/>
            <a:ext cx="5067077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2999" b="true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3D SCANNING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961700" y="5386854"/>
            <a:ext cx="518586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Thu nhận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hình dạng bằng thiết bị quét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97154" y="7110878"/>
            <a:ext cx="5067077" cy="38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9"/>
              </a:lnSpc>
            </a:pPr>
            <a:r>
              <a:rPr lang="en-US" sz="2999" b="true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AI HỖ TRỢ TẠO 3D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997154" y="7436633"/>
            <a:ext cx="518586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Tạo từ mô</a:t>
            </a: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tả hoặc ảnh, cần kiểm tra và tối ưu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705790"/>
            <a:ext cx="7773059" cy="134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1"/>
              </a:lnSpc>
            </a:pP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3.POLYGON MODELING </a:t>
            </a:r>
          </a:p>
          <a:p>
            <a:pPr algn="l">
              <a:lnSpc>
                <a:spcPts val="5141"/>
              </a:lnSpc>
            </a:pP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&amp; BLENDER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503791" y="6714320"/>
            <a:ext cx="5917777" cy="2874856"/>
            <a:chOff x="0" y="0"/>
            <a:chExt cx="1474140" cy="7161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140" cy="716137"/>
            </a:xfrm>
            <a:custGeom>
              <a:avLst/>
              <a:gdLst/>
              <a:ahLst/>
              <a:cxnLst/>
              <a:rect r="r" b="b" t="t" l="l"/>
              <a:pathLst>
                <a:path h="716137" w="1474140">
                  <a:moveTo>
                    <a:pt x="0" y="0"/>
                  </a:moveTo>
                  <a:lnTo>
                    <a:pt x="1474140" y="0"/>
                  </a:lnTo>
                  <a:lnTo>
                    <a:pt x="1474140" y="716137"/>
                  </a:lnTo>
                  <a:lnTo>
                    <a:pt x="0" y="716137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474140" cy="773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110559" y="6270176"/>
            <a:ext cx="6048785" cy="3017182"/>
            <a:chOff x="0" y="0"/>
            <a:chExt cx="1536891" cy="7666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36891" cy="766613"/>
            </a:xfrm>
            <a:custGeom>
              <a:avLst/>
              <a:gdLst/>
              <a:ahLst/>
              <a:cxnLst/>
              <a:rect r="r" b="b" t="t" l="l"/>
              <a:pathLst>
                <a:path h="766613" w="1536891">
                  <a:moveTo>
                    <a:pt x="0" y="0"/>
                  </a:moveTo>
                  <a:lnTo>
                    <a:pt x="1536891" y="0"/>
                  </a:lnTo>
                  <a:lnTo>
                    <a:pt x="1536891" y="766613"/>
                  </a:lnTo>
                  <a:lnTo>
                    <a:pt x="0" y="766613"/>
                  </a:lnTo>
                  <a:close/>
                </a:path>
              </a:pathLst>
            </a:custGeom>
            <a:blipFill>
              <a:blip r:embed="rId3"/>
              <a:stretch>
                <a:fillRect l="0" t="-6384" r="0" b="-6384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117466" y="9472315"/>
            <a:ext cx="8162329" cy="1592157"/>
            <a:chOff x="0" y="0"/>
            <a:chExt cx="2149749" cy="4193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9749" cy="419334"/>
            </a:xfrm>
            <a:custGeom>
              <a:avLst/>
              <a:gdLst/>
              <a:ahLst/>
              <a:cxnLst/>
              <a:rect r="r" b="b" t="t" l="l"/>
              <a:pathLst>
                <a:path h="419334" w="2149749">
                  <a:moveTo>
                    <a:pt x="15176" y="0"/>
                  </a:moveTo>
                  <a:lnTo>
                    <a:pt x="2134573" y="0"/>
                  </a:lnTo>
                  <a:cubicBezTo>
                    <a:pt x="2138598" y="0"/>
                    <a:pt x="2142458" y="1599"/>
                    <a:pt x="2145304" y="4445"/>
                  </a:cubicBezTo>
                  <a:cubicBezTo>
                    <a:pt x="2148150" y="7291"/>
                    <a:pt x="2149749" y="11151"/>
                    <a:pt x="2149749" y="15176"/>
                  </a:cubicBezTo>
                  <a:lnTo>
                    <a:pt x="2149749" y="404158"/>
                  </a:lnTo>
                  <a:cubicBezTo>
                    <a:pt x="2149749" y="408183"/>
                    <a:pt x="2148150" y="412043"/>
                    <a:pt x="2145304" y="414889"/>
                  </a:cubicBezTo>
                  <a:cubicBezTo>
                    <a:pt x="2142458" y="417735"/>
                    <a:pt x="2138598" y="419334"/>
                    <a:pt x="2134573" y="419334"/>
                  </a:cubicBezTo>
                  <a:lnTo>
                    <a:pt x="15176" y="419334"/>
                  </a:lnTo>
                  <a:cubicBezTo>
                    <a:pt x="6794" y="419334"/>
                    <a:pt x="0" y="412539"/>
                    <a:pt x="0" y="404158"/>
                  </a:cubicBezTo>
                  <a:lnTo>
                    <a:pt x="0" y="15176"/>
                  </a:lnTo>
                  <a:cubicBezTo>
                    <a:pt x="0" y="11151"/>
                    <a:pt x="1599" y="7291"/>
                    <a:pt x="4445" y="4445"/>
                  </a:cubicBezTo>
                  <a:cubicBezTo>
                    <a:pt x="7291" y="1599"/>
                    <a:pt x="11151" y="0"/>
                    <a:pt x="151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49749" cy="47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23912" y="-336043"/>
            <a:ext cx="8741633" cy="1132122"/>
            <a:chOff x="0" y="0"/>
            <a:chExt cx="2302323" cy="2981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2323" cy="298172"/>
            </a:xfrm>
            <a:custGeom>
              <a:avLst/>
              <a:gdLst/>
              <a:ahLst/>
              <a:cxnLst/>
              <a:rect r="r" b="b" t="t" l="l"/>
              <a:pathLst>
                <a:path h="298172" w="2302323">
                  <a:moveTo>
                    <a:pt x="14170" y="0"/>
                  </a:moveTo>
                  <a:lnTo>
                    <a:pt x="2288153" y="0"/>
                  </a:lnTo>
                  <a:cubicBezTo>
                    <a:pt x="2291911" y="0"/>
                    <a:pt x="2295515" y="1493"/>
                    <a:pt x="2298173" y="4150"/>
                  </a:cubicBezTo>
                  <a:cubicBezTo>
                    <a:pt x="2300830" y="6808"/>
                    <a:pt x="2302323" y="10412"/>
                    <a:pt x="2302323" y="14170"/>
                  </a:cubicBezTo>
                  <a:lnTo>
                    <a:pt x="2302323" y="284002"/>
                  </a:lnTo>
                  <a:cubicBezTo>
                    <a:pt x="2302323" y="287760"/>
                    <a:pt x="2300830" y="291364"/>
                    <a:pt x="2298173" y="294022"/>
                  </a:cubicBezTo>
                  <a:cubicBezTo>
                    <a:pt x="2295515" y="296679"/>
                    <a:pt x="2291911" y="298172"/>
                    <a:pt x="2288153" y="298172"/>
                  </a:cubicBezTo>
                  <a:lnTo>
                    <a:pt x="14170" y="298172"/>
                  </a:lnTo>
                  <a:cubicBezTo>
                    <a:pt x="10412" y="298172"/>
                    <a:pt x="6808" y="296679"/>
                    <a:pt x="4150" y="294022"/>
                  </a:cubicBezTo>
                  <a:cubicBezTo>
                    <a:pt x="1493" y="291364"/>
                    <a:pt x="0" y="287760"/>
                    <a:pt x="0" y="284002"/>
                  </a:cubicBezTo>
                  <a:lnTo>
                    <a:pt x="0" y="14170"/>
                  </a:lnTo>
                  <a:cubicBezTo>
                    <a:pt x="0" y="10412"/>
                    <a:pt x="1493" y="6808"/>
                    <a:pt x="4150" y="4150"/>
                  </a:cubicBezTo>
                  <a:cubicBezTo>
                    <a:pt x="6808" y="1493"/>
                    <a:pt x="10412" y="0"/>
                    <a:pt x="141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302323" cy="355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15519101" y="404526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47665" y="4709520"/>
            <a:ext cx="9009043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Tạo hình bằng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 chỉnh sửa đỉnh, cạnh, mặt từ khối cơ bản: Cube, Sphere, Cylinder.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Thao tác chính: Extrude, Scale, Rotate, Subdivide.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Kiểm soát cấu trúc lưới (topology) và độ phức tạp, hỗ tr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ợ tối ưu cho di động.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85807" y="3926014"/>
            <a:ext cx="4366379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3.1. Polygon Modeling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10559" y="2412551"/>
            <a:ext cx="7851275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Cô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ng cụ 3D miễn phí, mã nguồn mở.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Hỗ trợ dựng hình, vật liệu, hệ xương, hoạt ảnh và kết xuất.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Object Mode: chỉnh đối tượng. Edit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Mode: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chỉ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nh lưới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ất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 tài nguyên 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sang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 g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lTF/GLB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278976" y="1804789"/>
            <a:ext cx="2321362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3.2.Blender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3060"/>
                </a:solidFill>
                <a:latin typeface="Noto Sans"/>
                <a:ea typeface="Noto Sans"/>
                <a:cs typeface="Noto Sans"/>
                <a:sym typeface="Not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948236" y="2558915"/>
            <a:ext cx="885636" cy="720378"/>
            <a:chOff x="0" y="0"/>
            <a:chExt cx="233254" cy="1897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3254" cy="189729"/>
            </a:xfrm>
            <a:custGeom>
              <a:avLst/>
              <a:gdLst/>
              <a:ahLst/>
              <a:cxnLst/>
              <a:rect r="r" b="b" t="t" l="l"/>
              <a:pathLst>
                <a:path h="189729" w="233254">
                  <a:moveTo>
                    <a:pt x="94865" y="0"/>
                  </a:moveTo>
                  <a:lnTo>
                    <a:pt x="138389" y="0"/>
                  </a:lnTo>
                  <a:cubicBezTo>
                    <a:pt x="190781" y="0"/>
                    <a:pt x="233254" y="42472"/>
                    <a:pt x="233254" y="94865"/>
                  </a:cubicBezTo>
                  <a:lnTo>
                    <a:pt x="233254" y="94865"/>
                  </a:lnTo>
                  <a:cubicBezTo>
                    <a:pt x="233254" y="120024"/>
                    <a:pt x="223259" y="144153"/>
                    <a:pt x="205469" y="161944"/>
                  </a:cubicBezTo>
                  <a:cubicBezTo>
                    <a:pt x="187678" y="179735"/>
                    <a:pt x="163549" y="189729"/>
                    <a:pt x="138389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33254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5948236" y="3389902"/>
            <a:ext cx="885636" cy="720378"/>
            <a:chOff x="0" y="0"/>
            <a:chExt cx="233254" cy="1897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3254" cy="189729"/>
            </a:xfrm>
            <a:custGeom>
              <a:avLst/>
              <a:gdLst/>
              <a:ahLst/>
              <a:cxnLst/>
              <a:rect r="r" b="b" t="t" l="l"/>
              <a:pathLst>
                <a:path h="189729" w="233254">
                  <a:moveTo>
                    <a:pt x="94865" y="0"/>
                  </a:moveTo>
                  <a:lnTo>
                    <a:pt x="138389" y="0"/>
                  </a:lnTo>
                  <a:cubicBezTo>
                    <a:pt x="190781" y="0"/>
                    <a:pt x="233254" y="42472"/>
                    <a:pt x="233254" y="94865"/>
                  </a:cubicBezTo>
                  <a:lnTo>
                    <a:pt x="233254" y="94865"/>
                  </a:lnTo>
                  <a:cubicBezTo>
                    <a:pt x="233254" y="120024"/>
                    <a:pt x="223259" y="144153"/>
                    <a:pt x="205469" y="161944"/>
                  </a:cubicBezTo>
                  <a:cubicBezTo>
                    <a:pt x="187678" y="179735"/>
                    <a:pt x="163549" y="189729"/>
                    <a:pt x="138389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33254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5948236" y="4224581"/>
            <a:ext cx="885636" cy="720378"/>
            <a:chOff x="0" y="0"/>
            <a:chExt cx="233254" cy="1897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33254" cy="189729"/>
            </a:xfrm>
            <a:custGeom>
              <a:avLst/>
              <a:gdLst/>
              <a:ahLst/>
              <a:cxnLst/>
              <a:rect r="r" b="b" t="t" l="l"/>
              <a:pathLst>
                <a:path h="189729" w="233254">
                  <a:moveTo>
                    <a:pt x="94865" y="0"/>
                  </a:moveTo>
                  <a:lnTo>
                    <a:pt x="138389" y="0"/>
                  </a:lnTo>
                  <a:cubicBezTo>
                    <a:pt x="190781" y="0"/>
                    <a:pt x="233254" y="42472"/>
                    <a:pt x="233254" y="94865"/>
                  </a:cubicBezTo>
                  <a:lnTo>
                    <a:pt x="233254" y="94865"/>
                  </a:lnTo>
                  <a:cubicBezTo>
                    <a:pt x="233254" y="120024"/>
                    <a:pt x="223259" y="144153"/>
                    <a:pt x="205469" y="161944"/>
                  </a:cubicBezTo>
                  <a:cubicBezTo>
                    <a:pt x="187678" y="179735"/>
                    <a:pt x="163549" y="189729"/>
                    <a:pt x="138389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33254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948236" y="5059259"/>
            <a:ext cx="885636" cy="720378"/>
            <a:chOff x="0" y="0"/>
            <a:chExt cx="233254" cy="1897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3254" cy="189729"/>
            </a:xfrm>
            <a:custGeom>
              <a:avLst/>
              <a:gdLst/>
              <a:ahLst/>
              <a:cxnLst/>
              <a:rect r="r" b="b" t="t" l="l"/>
              <a:pathLst>
                <a:path h="189729" w="233254">
                  <a:moveTo>
                    <a:pt x="94865" y="0"/>
                  </a:moveTo>
                  <a:lnTo>
                    <a:pt x="138389" y="0"/>
                  </a:lnTo>
                  <a:cubicBezTo>
                    <a:pt x="190781" y="0"/>
                    <a:pt x="233254" y="42472"/>
                    <a:pt x="233254" y="94865"/>
                  </a:cubicBezTo>
                  <a:lnTo>
                    <a:pt x="233254" y="94865"/>
                  </a:lnTo>
                  <a:cubicBezTo>
                    <a:pt x="233254" y="120024"/>
                    <a:pt x="223259" y="144153"/>
                    <a:pt x="205469" y="161944"/>
                  </a:cubicBezTo>
                  <a:cubicBezTo>
                    <a:pt x="187678" y="179735"/>
                    <a:pt x="163549" y="189729"/>
                    <a:pt x="138389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33254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948236" y="5893937"/>
            <a:ext cx="885636" cy="720378"/>
            <a:chOff x="0" y="0"/>
            <a:chExt cx="233254" cy="1897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3254" cy="189729"/>
            </a:xfrm>
            <a:custGeom>
              <a:avLst/>
              <a:gdLst/>
              <a:ahLst/>
              <a:cxnLst/>
              <a:rect r="r" b="b" t="t" l="l"/>
              <a:pathLst>
                <a:path h="189729" w="233254">
                  <a:moveTo>
                    <a:pt x="94865" y="0"/>
                  </a:moveTo>
                  <a:lnTo>
                    <a:pt x="138389" y="0"/>
                  </a:lnTo>
                  <a:cubicBezTo>
                    <a:pt x="190781" y="0"/>
                    <a:pt x="233254" y="42472"/>
                    <a:pt x="233254" y="94865"/>
                  </a:cubicBezTo>
                  <a:lnTo>
                    <a:pt x="233254" y="94865"/>
                  </a:lnTo>
                  <a:cubicBezTo>
                    <a:pt x="233254" y="120024"/>
                    <a:pt x="223259" y="144153"/>
                    <a:pt x="205469" y="161944"/>
                  </a:cubicBezTo>
                  <a:cubicBezTo>
                    <a:pt x="187678" y="179735"/>
                    <a:pt x="163549" y="189729"/>
                    <a:pt x="138389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233254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05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948236" y="6728616"/>
            <a:ext cx="885636" cy="720378"/>
            <a:chOff x="0" y="0"/>
            <a:chExt cx="233254" cy="1897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3254" cy="189729"/>
            </a:xfrm>
            <a:custGeom>
              <a:avLst/>
              <a:gdLst/>
              <a:ahLst/>
              <a:cxnLst/>
              <a:rect r="r" b="b" t="t" l="l"/>
              <a:pathLst>
                <a:path h="189729" w="233254">
                  <a:moveTo>
                    <a:pt x="94865" y="0"/>
                  </a:moveTo>
                  <a:lnTo>
                    <a:pt x="138389" y="0"/>
                  </a:lnTo>
                  <a:cubicBezTo>
                    <a:pt x="190781" y="0"/>
                    <a:pt x="233254" y="42472"/>
                    <a:pt x="233254" y="94865"/>
                  </a:cubicBezTo>
                  <a:lnTo>
                    <a:pt x="233254" y="94865"/>
                  </a:lnTo>
                  <a:cubicBezTo>
                    <a:pt x="233254" y="120024"/>
                    <a:pt x="223259" y="144153"/>
                    <a:pt x="205469" y="161944"/>
                  </a:cubicBezTo>
                  <a:cubicBezTo>
                    <a:pt x="187678" y="179735"/>
                    <a:pt x="163549" y="189729"/>
                    <a:pt x="138389" y="189729"/>
                  </a:cubicBezTo>
                  <a:lnTo>
                    <a:pt x="94865" y="189729"/>
                  </a:lnTo>
                  <a:cubicBezTo>
                    <a:pt x="69705" y="189729"/>
                    <a:pt x="45576" y="179735"/>
                    <a:pt x="27785" y="161944"/>
                  </a:cubicBezTo>
                  <a:cubicBezTo>
                    <a:pt x="9995" y="144153"/>
                    <a:pt x="0" y="120024"/>
                    <a:pt x="0" y="94865"/>
                  </a:cubicBezTo>
                  <a:lnTo>
                    <a:pt x="0" y="94865"/>
                  </a:lnTo>
                  <a:cubicBezTo>
                    <a:pt x="0" y="69705"/>
                    <a:pt x="9995" y="45576"/>
                    <a:pt x="27785" y="27785"/>
                  </a:cubicBezTo>
                  <a:cubicBezTo>
                    <a:pt x="45576" y="9995"/>
                    <a:pt x="69705" y="0"/>
                    <a:pt x="9486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233254" cy="2468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  <a:r>
                <a:rPr lang="en-US" sz="2500">
                  <a:solidFill>
                    <a:srgbClr val="FFFFFF"/>
                  </a:solidFill>
                  <a:latin typeface="Garet"/>
                  <a:ea typeface="Garet"/>
                  <a:cs typeface="Garet"/>
                  <a:sym typeface="Garet"/>
                </a:rPr>
                <a:t>06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-1043645" y="9258300"/>
            <a:ext cx="3245780" cy="3245780"/>
          </a:xfrm>
          <a:custGeom>
            <a:avLst/>
            <a:gdLst/>
            <a:ahLst/>
            <a:cxnLst/>
            <a:rect r="r" b="b" t="t" l="l"/>
            <a:pathLst>
              <a:path h="3245780" w="3245780">
                <a:moveTo>
                  <a:pt x="0" y="0"/>
                </a:moveTo>
                <a:lnTo>
                  <a:pt x="3245780" y="0"/>
                </a:lnTo>
                <a:lnTo>
                  <a:pt x="3245780" y="3245780"/>
                </a:lnTo>
                <a:lnTo>
                  <a:pt x="0" y="32457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949359" y="2832160"/>
            <a:ext cx="4491222" cy="6127482"/>
            <a:chOff x="0" y="0"/>
            <a:chExt cx="1112512" cy="151782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2512" cy="1517827"/>
            </a:xfrm>
            <a:custGeom>
              <a:avLst/>
              <a:gdLst/>
              <a:ahLst/>
              <a:cxnLst/>
              <a:rect r="r" b="b" t="t" l="l"/>
              <a:pathLst>
                <a:path h="1517827" w="1112512">
                  <a:moveTo>
                    <a:pt x="0" y="0"/>
                  </a:moveTo>
                  <a:lnTo>
                    <a:pt x="1112512" y="0"/>
                  </a:lnTo>
                  <a:lnTo>
                    <a:pt x="1112512" y="1517827"/>
                  </a:lnTo>
                  <a:lnTo>
                    <a:pt x="0" y="1517827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112512" cy="15749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723520" y="2212427"/>
            <a:ext cx="4491222" cy="6522757"/>
            <a:chOff x="0" y="0"/>
            <a:chExt cx="654419" cy="9504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54419" cy="950435"/>
            </a:xfrm>
            <a:custGeom>
              <a:avLst/>
              <a:gdLst/>
              <a:ahLst/>
              <a:cxnLst/>
              <a:rect r="r" b="b" t="t" l="l"/>
              <a:pathLst>
                <a:path h="950435" w="654419">
                  <a:moveTo>
                    <a:pt x="0" y="0"/>
                  </a:moveTo>
                  <a:lnTo>
                    <a:pt x="654419" y="0"/>
                  </a:lnTo>
                  <a:lnTo>
                    <a:pt x="654419" y="950435"/>
                  </a:lnTo>
                  <a:lnTo>
                    <a:pt x="0" y="950435"/>
                  </a:lnTo>
                  <a:close/>
                </a:path>
              </a:pathLst>
            </a:custGeom>
            <a:blipFill>
              <a:blip r:embed="rId5"/>
              <a:stretch>
                <a:fillRect l="0" t="-1315" r="0" b="-131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4134558" y="9846674"/>
            <a:ext cx="4465962" cy="1640349"/>
            <a:chOff x="0" y="0"/>
            <a:chExt cx="1176220" cy="43202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76220" cy="432026"/>
            </a:xfrm>
            <a:custGeom>
              <a:avLst/>
              <a:gdLst/>
              <a:ahLst/>
              <a:cxnLst/>
              <a:rect r="r" b="b" t="t" l="l"/>
              <a:pathLst>
                <a:path h="432026" w="1176220">
                  <a:moveTo>
                    <a:pt x="32937" y="0"/>
                  </a:moveTo>
                  <a:lnTo>
                    <a:pt x="1143283" y="0"/>
                  </a:lnTo>
                  <a:cubicBezTo>
                    <a:pt x="1152019" y="0"/>
                    <a:pt x="1160396" y="3470"/>
                    <a:pt x="1166573" y="9647"/>
                  </a:cubicBezTo>
                  <a:cubicBezTo>
                    <a:pt x="1172750" y="15824"/>
                    <a:pt x="1176220" y="24202"/>
                    <a:pt x="1176220" y="32937"/>
                  </a:cubicBezTo>
                  <a:lnTo>
                    <a:pt x="1176220" y="399089"/>
                  </a:lnTo>
                  <a:cubicBezTo>
                    <a:pt x="1176220" y="407824"/>
                    <a:pt x="1172750" y="416202"/>
                    <a:pt x="1166573" y="422379"/>
                  </a:cubicBezTo>
                  <a:cubicBezTo>
                    <a:pt x="1160396" y="428556"/>
                    <a:pt x="1152019" y="432026"/>
                    <a:pt x="1143283" y="432026"/>
                  </a:cubicBezTo>
                  <a:lnTo>
                    <a:pt x="32937" y="432026"/>
                  </a:lnTo>
                  <a:cubicBezTo>
                    <a:pt x="24202" y="432026"/>
                    <a:pt x="15824" y="428556"/>
                    <a:pt x="9647" y="422379"/>
                  </a:cubicBezTo>
                  <a:cubicBezTo>
                    <a:pt x="3470" y="416202"/>
                    <a:pt x="0" y="407824"/>
                    <a:pt x="0" y="399089"/>
                  </a:cubicBezTo>
                  <a:lnTo>
                    <a:pt x="0" y="32937"/>
                  </a:lnTo>
                  <a:cubicBezTo>
                    <a:pt x="0" y="24202"/>
                    <a:pt x="3470" y="15824"/>
                    <a:pt x="9647" y="9647"/>
                  </a:cubicBezTo>
                  <a:cubicBezTo>
                    <a:pt x="15824" y="3470"/>
                    <a:pt x="24202" y="0"/>
                    <a:pt x="32937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0"/>
                  </a:srgbClr>
                </a:gs>
                <a:gs pos="50000">
                  <a:srgbClr val="003060">
                    <a:alpha val="100000"/>
                  </a:srgbClr>
                </a:gs>
                <a:gs pos="100000">
                  <a:srgbClr val="00306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176220" cy="489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516757" y="-934306"/>
            <a:ext cx="8931924" cy="1640349"/>
            <a:chOff x="0" y="0"/>
            <a:chExt cx="2352441" cy="4320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352441" cy="432026"/>
            </a:xfrm>
            <a:custGeom>
              <a:avLst/>
              <a:gdLst/>
              <a:ahLst/>
              <a:cxnLst/>
              <a:rect r="r" b="b" t="t" l="l"/>
              <a:pathLst>
                <a:path h="432026" w="2352441">
                  <a:moveTo>
                    <a:pt x="16469" y="0"/>
                  </a:moveTo>
                  <a:lnTo>
                    <a:pt x="2335972" y="0"/>
                  </a:lnTo>
                  <a:cubicBezTo>
                    <a:pt x="2345068" y="0"/>
                    <a:pt x="2352441" y="7373"/>
                    <a:pt x="2352441" y="16469"/>
                  </a:cubicBezTo>
                  <a:lnTo>
                    <a:pt x="2352441" y="415557"/>
                  </a:lnTo>
                  <a:cubicBezTo>
                    <a:pt x="2352441" y="419925"/>
                    <a:pt x="2350706" y="424114"/>
                    <a:pt x="2347617" y="427202"/>
                  </a:cubicBezTo>
                  <a:cubicBezTo>
                    <a:pt x="2344529" y="430291"/>
                    <a:pt x="2340340" y="432026"/>
                    <a:pt x="2335972" y="432026"/>
                  </a:cubicBezTo>
                  <a:lnTo>
                    <a:pt x="16469" y="432026"/>
                  </a:lnTo>
                  <a:cubicBezTo>
                    <a:pt x="12101" y="432026"/>
                    <a:pt x="7912" y="430291"/>
                    <a:pt x="4824" y="427202"/>
                  </a:cubicBezTo>
                  <a:cubicBezTo>
                    <a:pt x="1735" y="424114"/>
                    <a:pt x="0" y="419925"/>
                    <a:pt x="0" y="415557"/>
                  </a:cubicBezTo>
                  <a:lnTo>
                    <a:pt x="0" y="16469"/>
                  </a:lnTo>
                  <a:cubicBezTo>
                    <a:pt x="0" y="12101"/>
                    <a:pt x="1735" y="7912"/>
                    <a:pt x="4824" y="4824"/>
                  </a:cubicBezTo>
                  <a:cubicBezTo>
                    <a:pt x="7912" y="1735"/>
                    <a:pt x="12101" y="0"/>
                    <a:pt x="1646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0"/>
                  </a:srgbClr>
                </a:gs>
                <a:gs pos="50000">
                  <a:srgbClr val="003060">
                    <a:alpha val="100000"/>
                  </a:srgbClr>
                </a:gs>
                <a:gs pos="100000">
                  <a:srgbClr val="003060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2352441" cy="4891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6391054" y="1384921"/>
            <a:ext cx="11160172" cy="69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1"/>
              </a:lnSpc>
            </a:pP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4.</a:t>
            </a: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Quy trình tạo tà</a:t>
            </a: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I NGUYÊN 3D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23957" y="2674629"/>
            <a:ext cx="107317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Xác định yêu cầu: hình dáng, phong cách, mục đích sử dụng.</a:t>
            </a:r>
          </a:p>
        </p:txBody>
      </p:sp>
      <p:sp>
        <p:nvSpPr>
          <p:cNvPr name="Freeform 35" id="35"/>
          <p:cNvSpPr/>
          <p:nvPr/>
        </p:nvSpPr>
        <p:spPr>
          <a:xfrm flipH="true" flipV="false" rot="0">
            <a:off x="15929983" y="8557130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3" y="0"/>
                </a:moveTo>
                <a:lnTo>
                  <a:pt x="0" y="0"/>
                </a:lnTo>
                <a:lnTo>
                  <a:pt x="0" y="805023"/>
                </a:lnTo>
                <a:lnTo>
                  <a:pt x="1689933" y="805023"/>
                </a:lnTo>
                <a:lnTo>
                  <a:pt x="1689933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7023957" y="3508445"/>
            <a:ext cx="107317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Tạo khối cơ bản và chỉnh sửa lưới.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023957" y="4299020"/>
            <a:ext cx="107317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Hoàn thiện topology: cấu trúc lưới phù hợp.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023957" y="5086350"/>
            <a:ext cx="107317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Thiết lập Material, UV và Texture.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023957" y="5968377"/>
            <a:ext cx="107317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Thêm hệ xương, hoạt ảnh nếu cần.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023957" y="6793165"/>
            <a:ext cx="10731762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Tối ưu và xuất tệp cho ứng dụng.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857970" y="7725219"/>
            <a:ext cx="1176194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Tối ưu cần được cân nhắc ngay trong quá trình tạo mô hình.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07178" y="9039041"/>
            <a:ext cx="8162329" cy="1592157"/>
            <a:chOff x="0" y="0"/>
            <a:chExt cx="2149749" cy="4193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49749" cy="419334"/>
            </a:xfrm>
            <a:custGeom>
              <a:avLst/>
              <a:gdLst/>
              <a:ahLst/>
              <a:cxnLst/>
              <a:rect r="r" b="b" t="t" l="l"/>
              <a:pathLst>
                <a:path h="419334" w="2149749">
                  <a:moveTo>
                    <a:pt x="15176" y="0"/>
                  </a:moveTo>
                  <a:lnTo>
                    <a:pt x="2134573" y="0"/>
                  </a:lnTo>
                  <a:cubicBezTo>
                    <a:pt x="2138598" y="0"/>
                    <a:pt x="2142458" y="1599"/>
                    <a:pt x="2145304" y="4445"/>
                  </a:cubicBezTo>
                  <a:cubicBezTo>
                    <a:pt x="2148150" y="7291"/>
                    <a:pt x="2149749" y="11151"/>
                    <a:pt x="2149749" y="15176"/>
                  </a:cubicBezTo>
                  <a:lnTo>
                    <a:pt x="2149749" y="404158"/>
                  </a:lnTo>
                  <a:cubicBezTo>
                    <a:pt x="2149749" y="408183"/>
                    <a:pt x="2148150" y="412043"/>
                    <a:pt x="2145304" y="414889"/>
                  </a:cubicBezTo>
                  <a:cubicBezTo>
                    <a:pt x="2142458" y="417735"/>
                    <a:pt x="2138598" y="419334"/>
                    <a:pt x="2134573" y="419334"/>
                  </a:cubicBezTo>
                  <a:lnTo>
                    <a:pt x="15176" y="419334"/>
                  </a:lnTo>
                  <a:cubicBezTo>
                    <a:pt x="6794" y="419334"/>
                    <a:pt x="0" y="412539"/>
                    <a:pt x="0" y="404158"/>
                  </a:cubicBezTo>
                  <a:lnTo>
                    <a:pt x="0" y="15176"/>
                  </a:lnTo>
                  <a:cubicBezTo>
                    <a:pt x="0" y="11151"/>
                    <a:pt x="1599" y="7291"/>
                    <a:pt x="4445" y="4445"/>
                  </a:cubicBezTo>
                  <a:cubicBezTo>
                    <a:pt x="7291" y="1599"/>
                    <a:pt x="11151" y="0"/>
                    <a:pt x="151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0"/>
                  </a:srgbClr>
                </a:gs>
                <a:gs pos="100000">
                  <a:srgbClr val="003060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149749" cy="47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923912" y="-250852"/>
            <a:ext cx="8741633" cy="1132122"/>
            <a:chOff x="0" y="0"/>
            <a:chExt cx="2302323" cy="2981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02323" cy="298172"/>
            </a:xfrm>
            <a:custGeom>
              <a:avLst/>
              <a:gdLst/>
              <a:ahLst/>
              <a:cxnLst/>
              <a:rect r="r" b="b" t="t" l="l"/>
              <a:pathLst>
                <a:path h="298172" w="2302323">
                  <a:moveTo>
                    <a:pt x="14170" y="0"/>
                  </a:moveTo>
                  <a:lnTo>
                    <a:pt x="2288153" y="0"/>
                  </a:lnTo>
                  <a:cubicBezTo>
                    <a:pt x="2291911" y="0"/>
                    <a:pt x="2295515" y="1493"/>
                    <a:pt x="2298173" y="4150"/>
                  </a:cubicBezTo>
                  <a:cubicBezTo>
                    <a:pt x="2300830" y="6808"/>
                    <a:pt x="2302323" y="10412"/>
                    <a:pt x="2302323" y="14170"/>
                  </a:cubicBezTo>
                  <a:lnTo>
                    <a:pt x="2302323" y="284002"/>
                  </a:lnTo>
                  <a:cubicBezTo>
                    <a:pt x="2302323" y="287760"/>
                    <a:pt x="2300830" y="291364"/>
                    <a:pt x="2298173" y="294022"/>
                  </a:cubicBezTo>
                  <a:cubicBezTo>
                    <a:pt x="2295515" y="296679"/>
                    <a:pt x="2291911" y="298172"/>
                    <a:pt x="2288153" y="298172"/>
                  </a:cubicBezTo>
                  <a:lnTo>
                    <a:pt x="14170" y="298172"/>
                  </a:lnTo>
                  <a:cubicBezTo>
                    <a:pt x="10412" y="298172"/>
                    <a:pt x="6808" y="296679"/>
                    <a:pt x="4150" y="294022"/>
                  </a:cubicBezTo>
                  <a:cubicBezTo>
                    <a:pt x="1493" y="291364"/>
                    <a:pt x="0" y="287760"/>
                    <a:pt x="0" y="284002"/>
                  </a:cubicBezTo>
                  <a:lnTo>
                    <a:pt x="0" y="14170"/>
                  </a:lnTo>
                  <a:cubicBezTo>
                    <a:pt x="0" y="10412"/>
                    <a:pt x="1493" y="6808"/>
                    <a:pt x="4150" y="4150"/>
                  </a:cubicBezTo>
                  <a:cubicBezTo>
                    <a:pt x="6808" y="1493"/>
                    <a:pt x="10412" y="0"/>
                    <a:pt x="141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302323" cy="355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4242600" y="9039041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864416" y="7571678"/>
            <a:ext cx="2675777" cy="679211"/>
          </a:xfrm>
          <a:custGeom>
            <a:avLst/>
            <a:gdLst/>
            <a:ahLst/>
            <a:cxnLst/>
            <a:rect r="r" b="b" t="t" l="l"/>
            <a:pathLst>
              <a:path h="679211" w="2675777">
                <a:moveTo>
                  <a:pt x="0" y="0"/>
                </a:moveTo>
                <a:lnTo>
                  <a:pt x="2675777" y="0"/>
                </a:lnTo>
                <a:lnTo>
                  <a:pt x="2675777" y="679211"/>
                </a:lnTo>
                <a:lnTo>
                  <a:pt x="0" y="6792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79381" y="2620526"/>
            <a:ext cx="9129332" cy="69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1"/>
              </a:lnSpc>
            </a:pP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5.ĐỊNH DẠNG GLTF &amp; GLB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2657" y="3792074"/>
            <a:ext cx="7399905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glTF: tiêu chuẩn mở của Khronos Group, phục vụ truyền và tải tài nguyên 3D.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GLB: dạng đóng gói nhị phân của glTF, thuận tiện phân phối trong một tệp.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008714" y="3092982"/>
            <a:ext cx="7399905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3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</a:t>
            </a:r>
            <a:r>
              <a:rPr lang="en-US" b="true" sz="3000">
                <a:solidFill>
                  <a:srgbClr val="003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hân biệt vai trò: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Blender: tạo và xuất tài nguyên.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glTF/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GLB: lưu và chuyển giao tài nguyên.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Thư viện/engine: tải và hiển thị tài nguyên.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3060"/>
                </a:solidFill>
                <a:latin typeface="Noto Sans"/>
                <a:ea typeface="Noto Sans"/>
                <a:cs typeface="Noto Sans"/>
                <a:sym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21515" y="-123634"/>
            <a:ext cx="1433381" cy="10820284"/>
            <a:chOff x="0" y="0"/>
            <a:chExt cx="377516" cy="28497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7516" cy="2849787"/>
            </a:xfrm>
            <a:custGeom>
              <a:avLst/>
              <a:gdLst/>
              <a:ahLst/>
              <a:cxnLst/>
              <a:rect r="r" b="b" t="t" l="l"/>
              <a:pathLst>
                <a:path h="2849787" w="377516">
                  <a:moveTo>
                    <a:pt x="86419" y="0"/>
                  </a:moveTo>
                  <a:lnTo>
                    <a:pt x="291097" y="0"/>
                  </a:lnTo>
                  <a:cubicBezTo>
                    <a:pt x="338825" y="0"/>
                    <a:pt x="377516" y="38691"/>
                    <a:pt x="377516" y="86419"/>
                  </a:cubicBezTo>
                  <a:lnTo>
                    <a:pt x="377516" y="2763368"/>
                  </a:lnTo>
                  <a:cubicBezTo>
                    <a:pt x="377516" y="2811096"/>
                    <a:pt x="338825" y="2849787"/>
                    <a:pt x="291097" y="2849787"/>
                  </a:cubicBezTo>
                  <a:lnTo>
                    <a:pt x="86419" y="2849787"/>
                  </a:lnTo>
                  <a:cubicBezTo>
                    <a:pt x="38691" y="2849787"/>
                    <a:pt x="0" y="2811096"/>
                    <a:pt x="0" y="2763368"/>
                  </a:cubicBezTo>
                  <a:lnTo>
                    <a:pt x="0" y="86419"/>
                  </a:lnTo>
                  <a:cubicBezTo>
                    <a:pt x="0" y="38691"/>
                    <a:pt x="38691" y="0"/>
                    <a:pt x="864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77516" cy="2906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809715" y="-1350934"/>
            <a:ext cx="1433381" cy="4683349"/>
            <a:chOff x="0" y="0"/>
            <a:chExt cx="377516" cy="1233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516" cy="1233475"/>
            </a:xfrm>
            <a:custGeom>
              <a:avLst/>
              <a:gdLst/>
              <a:ahLst/>
              <a:cxnLst/>
              <a:rect r="r" b="b" t="t" l="l"/>
              <a:pathLst>
                <a:path h="1233475" w="377516">
                  <a:moveTo>
                    <a:pt x="86419" y="0"/>
                  </a:moveTo>
                  <a:lnTo>
                    <a:pt x="291097" y="0"/>
                  </a:lnTo>
                  <a:cubicBezTo>
                    <a:pt x="338825" y="0"/>
                    <a:pt x="377516" y="38691"/>
                    <a:pt x="377516" y="86419"/>
                  </a:cubicBezTo>
                  <a:lnTo>
                    <a:pt x="377516" y="1147056"/>
                  </a:lnTo>
                  <a:cubicBezTo>
                    <a:pt x="377516" y="1194784"/>
                    <a:pt x="338825" y="1233475"/>
                    <a:pt x="291097" y="1233475"/>
                  </a:cubicBezTo>
                  <a:lnTo>
                    <a:pt x="86419" y="1233475"/>
                  </a:lnTo>
                  <a:cubicBezTo>
                    <a:pt x="38691" y="1233475"/>
                    <a:pt x="0" y="1194784"/>
                    <a:pt x="0" y="1147056"/>
                  </a:cubicBezTo>
                  <a:lnTo>
                    <a:pt x="0" y="86419"/>
                  </a:lnTo>
                  <a:cubicBezTo>
                    <a:pt x="0" y="38691"/>
                    <a:pt x="38691" y="0"/>
                    <a:pt x="864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77516" cy="129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420762" y="3365914"/>
            <a:ext cx="5332795" cy="4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3099" b="true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6.1. NGUYÊN LÝ HIỂN THỊ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4218007" y="9045591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53357" y="1556472"/>
            <a:ext cx="14383697" cy="69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1"/>
              </a:lnSpc>
            </a:pP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6.TÍCH HỢP 3D VÀO ỨNG DỤNG DI ĐỘNG.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2409" y="4057220"/>
            <a:ext cx="6576769" cy="3181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Hệ thống kết xuất xử lý hình học, vật liệu và texture, gửi lệnh để GPU tạo khung hình.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Quy trình: Công cụ tạo → Tệp 3D → Thư viện/Engine → Kết xuất → GPU → Màn hình.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78631" y="3365914"/>
            <a:ext cx="6338725" cy="4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3099" b="true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6.2. CÁC HƯỚNG TÍCH HỢP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178631" y="4057220"/>
            <a:ext cx="6576769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API đồ họa (OpenGL ES)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Game engine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Thư viện/trình xem 3D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Web 3D nhúng (Three.js/WebGL)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178631" y="6419420"/>
            <a:ext cx="6619371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→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Lựa chọn theo nền tảng, mức độ tương tác, yêu cầu đồ họa và chi phí phát triển.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3060"/>
                </a:solidFill>
                <a:latin typeface="Noto Sans"/>
                <a:ea typeface="Noto Sans"/>
                <a:cs typeface="Noto Sans"/>
                <a:sym typeface="Noto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381491" y="-2899712"/>
            <a:ext cx="19118434" cy="3988725"/>
            <a:chOff x="0" y="0"/>
            <a:chExt cx="5035308" cy="105052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35308" cy="1050528"/>
            </a:xfrm>
            <a:custGeom>
              <a:avLst/>
              <a:gdLst/>
              <a:ahLst/>
              <a:cxnLst/>
              <a:rect r="r" b="b" t="t" l="l"/>
              <a:pathLst>
                <a:path h="1050528" w="5035308">
                  <a:moveTo>
                    <a:pt x="0" y="0"/>
                  </a:moveTo>
                  <a:lnTo>
                    <a:pt x="5035308" y="0"/>
                  </a:lnTo>
                  <a:lnTo>
                    <a:pt x="5035308" y="1050528"/>
                  </a:lnTo>
                  <a:lnTo>
                    <a:pt x="0" y="1050528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035308" cy="11076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018552" y="3763622"/>
            <a:ext cx="4782314" cy="2719084"/>
            <a:chOff x="0" y="0"/>
            <a:chExt cx="1259540" cy="71613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9539" cy="716137"/>
            </a:xfrm>
            <a:custGeom>
              <a:avLst/>
              <a:gdLst/>
              <a:ahLst/>
              <a:cxnLst/>
              <a:rect r="r" b="b" t="t" l="l"/>
              <a:pathLst>
                <a:path h="716137" w="1259539">
                  <a:moveTo>
                    <a:pt x="0" y="0"/>
                  </a:moveTo>
                  <a:lnTo>
                    <a:pt x="1259539" y="0"/>
                  </a:lnTo>
                  <a:lnTo>
                    <a:pt x="1259539" y="716137"/>
                  </a:lnTo>
                  <a:lnTo>
                    <a:pt x="0" y="716137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259540" cy="773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629541" y="3763622"/>
            <a:ext cx="4782314" cy="2719084"/>
            <a:chOff x="0" y="0"/>
            <a:chExt cx="1259540" cy="71613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9539" cy="716137"/>
            </a:xfrm>
            <a:custGeom>
              <a:avLst/>
              <a:gdLst/>
              <a:ahLst/>
              <a:cxnLst/>
              <a:rect r="r" b="b" t="t" l="l"/>
              <a:pathLst>
                <a:path h="716137" w="1259539">
                  <a:moveTo>
                    <a:pt x="0" y="0"/>
                  </a:moveTo>
                  <a:lnTo>
                    <a:pt x="1259539" y="0"/>
                  </a:lnTo>
                  <a:lnTo>
                    <a:pt x="1259539" y="716137"/>
                  </a:lnTo>
                  <a:lnTo>
                    <a:pt x="0" y="716137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259540" cy="773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699907" y="3343544"/>
            <a:ext cx="4888186" cy="2853698"/>
            <a:chOff x="0" y="0"/>
            <a:chExt cx="1313155" cy="76661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13155" cy="766613"/>
            </a:xfrm>
            <a:custGeom>
              <a:avLst/>
              <a:gdLst/>
              <a:ahLst/>
              <a:cxnLst/>
              <a:rect r="r" b="b" t="t" l="l"/>
              <a:pathLst>
                <a:path h="766613" w="1313155">
                  <a:moveTo>
                    <a:pt x="0" y="0"/>
                  </a:moveTo>
                  <a:lnTo>
                    <a:pt x="1313155" y="0"/>
                  </a:lnTo>
                  <a:lnTo>
                    <a:pt x="1313155" y="766613"/>
                  </a:lnTo>
                  <a:lnTo>
                    <a:pt x="0" y="766613"/>
                  </a:lnTo>
                  <a:close/>
                </a:path>
              </a:pathLst>
            </a:custGeom>
            <a:blipFill>
              <a:blip r:embed="rId3"/>
              <a:stretch>
                <a:fillRect l="-1931" t="0" r="-193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305691" y="3343544"/>
            <a:ext cx="4888186" cy="2853698"/>
            <a:chOff x="0" y="0"/>
            <a:chExt cx="1313155" cy="76661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13155" cy="766613"/>
            </a:xfrm>
            <a:custGeom>
              <a:avLst/>
              <a:gdLst/>
              <a:ahLst/>
              <a:cxnLst/>
              <a:rect r="r" b="b" t="t" l="l"/>
              <a:pathLst>
                <a:path h="766613" w="1313155">
                  <a:moveTo>
                    <a:pt x="0" y="0"/>
                  </a:moveTo>
                  <a:lnTo>
                    <a:pt x="1313155" y="0"/>
                  </a:lnTo>
                  <a:lnTo>
                    <a:pt x="1313155" y="766613"/>
                  </a:lnTo>
                  <a:lnTo>
                    <a:pt x="0" y="766613"/>
                  </a:lnTo>
                  <a:close/>
                </a:path>
              </a:pathLst>
            </a:custGeom>
            <a:blipFill>
              <a:blip r:embed="rId4"/>
              <a:stretch>
                <a:fillRect l="0" t="-14157" r="0" b="-1415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09933" y="3763622"/>
            <a:ext cx="4782314" cy="2719084"/>
            <a:chOff x="0" y="0"/>
            <a:chExt cx="1259540" cy="716137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59539" cy="716137"/>
            </a:xfrm>
            <a:custGeom>
              <a:avLst/>
              <a:gdLst/>
              <a:ahLst/>
              <a:cxnLst/>
              <a:rect r="r" b="b" t="t" l="l"/>
              <a:pathLst>
                <a:path h="716137" w="1259539">
                  <a:moveTo>
                    <a:pt x="0" y="0"/>
                  </a:moveTo>
                  <a:lnTo>
                    <a:pt x="1259539" y="0"/>
                  </a:lnTo>
                  <a:lnTo>
                    <a:pt x="1259539" y="716137"/>
                  </a:lnTo>
                  <a:lnTo>
                    <a:pt x="0" y="716137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259540" cy="773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2152" y="3343544"/>
            <a:ext cx="4888186" cy="2853698"/>
            <a:chOff x="0" y="0"/>
            <a:chExt cx="1313155" cy="76661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3155" cy="766613"/>
            </a:xfrm>
            <a:custGeom>
              <a:avLst/>
              <a:gdLst/>
              <a:ahLst/>
              <a:cxnLst/>
              <a:rect r="r" b="b" t="t" l="l"/>
              <a:pathLst>
                <a:path h="766613" w="1313155">
                  <a:moveTo>
                    <a:pt x="0" y="0"/>
                  </a:moveTo>
                  <a:lnTo>
                    <a:pt x="1313155" y="0"/>
                  </a:lnTo>
                  <a:lnTo>
                    <a:pt x="1313155" y="766613"/>
                  </a:lnTo>
                  <a:lnTo>
                    <a:pt x="0" y="766613"/>
                  </a:lnTo>
                  <a:close/>
                </a:path>
              </a:pathLst>
            </a:custGeom>
            <a:blipFill>
              <a:blip r:embed="rId5"/>
              <a:stretch>
                <a:fillRect l="0" t="-7115" r="0" b="-7115"/>
              </a:stretch>
            </a:blipFill>
          </p:spPr>
        </p:sp>
      </p:grpSp>
      <p:sp>
        <p:nvSpPr>
          <p:cNvPr name="Freeform 21" id="21"/>
          <p:cNvSpPr/>
          <p:nvPr/>
        </p:nvSpPr>
        <p:spPr>
          <a:xfrm flipH="true" flipV="false" rot="0">
            <a:off x="15721921" y="571412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030371" y="1919794"/>
            <a:ext cx="14383697" cy="697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41"/>
              </a:lnSpc>
            </a:pP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7.THREE.JS, WEBGL VÀ TÍCH HỢP FLUTTER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70371" y="6425556"/>
            <a:ext cx="4731748" cy="3322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3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Three.js: </a:t>
            </a:r>
          </a:p>
          <a:p>
            <a:pPr algn="l" marL="582933" indent="-291467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Thư viện JavaScript giúp xây dựng và quản lý cảnh 3D.</a:t>
            </a:r>
          </a:p>
          <a:p>
            <a:pPr algn="l" marL="582933" indent="-291467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Hỗ trợ camera, ánh sáng, vật liệu, hoạt ảnh và tương tác.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56345" y="6425556"/>
            <a:ext cx="4731748" cy="1893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3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W</a:t>
            </a:r>
            <a:r>
              <a:rPr lang="en-US" b="true" sz="2700">
                <a:solidFill>
                  <a:srgbClr val="003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ebGL: </a:t>
            </a:r>
          </a:p>
          <a:p>
            <a:pPr algn="l" marL="582933" indent="-291467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API đồ họa trên web, kết xuất trong HTML canvas.</a:t>
            </a:r>
          </a:p>
          <a:p>
            <a:pPr algn="l">
              <a:lnSpc>
                <a:spcPts val="378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2462129" y="6425556"/>
            <a:ext cx="4731748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003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GL</a:t>
            </a:r>
            <a:r>
              <a:rPr lang="en-US" b="true" sz="2700">
                <a:solidFill>
                  <a:srgbClr val="00306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TFLoader: </a:t>
            </a:r>
          </a:p>
          <a:p>
            <a:pPr algn="l" marL="582933" indent="-291467" lvl="1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Tả</a:t>
            </a:r>
            <a:r>
              <a:rPr lang="en-US" sz="27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i tài nguyên glTF/GLB.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3060"/>
                </a:solidFill>
                <a:latin typeface="Noto Sans"/>
                <a:ea typeface="Noto Sans"/>
                <a:cs typeface="Noto Sans"/>
                <a:sym typeface="Not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21515" y="-123634"/>
            <a:ext cx="1433381" cy="10820284"/>
            <a:chOff x="0" y="0"/>
            <a:chExt cx="377516" cy="28497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7516" cy="2849787"/>
            </a:xfrm>
            <a:custGeom>
              <a:avLst/>
              <a:gdLst/>
              <a:ahLst/>
              <a:cxnLst/>
              <a:rect r="r" b="b" t="t" l="l"/>
              <a:pathLst>
                <a:path h="2849787" w="377516">
                  <a:moveTo>
                    <a:pt x="86419" y="0"/>
                  </a:moveTo>
                  <a:lnTo>
                    <a:pt x="291097" y="0"/>
                  </a:lnTo>
                  <a:cubicBezTo>
                    <a:pt x="338825" y="0"/>
                    <a:pt x="377516" y="38691"/>
                    <a:pt x="377516" y="86419"/>
                  </a:cubicBezTo>
                  <a:lnTo>
                    <a:pt x="377516" y="2763368"/>
                  </a:lnTo>
                  <a:cubicBezTo>
                    <a:pt x="377516" y="2811096"/>
                    <a:pt x="338825" y="2849787"/>
                    <a:pt x="291097" y="2849787"/>
                  </a:cubicBezTo>
                  <a:lnTo>
                    <a:pt x="86419" y="2849787"/>
                  </a:lnTo>
                  <a:cubicBezTo>
                    <a:pt x="38691" y="2849787"/>
                    <a:pt x="0" y="2811096"/>
                    <a:pt x="0" y="2763368"/>
                  </a:cubicBezTo>
                  <a:lnTo>
                    <a:pt x="0" y="86419"/>
                  </a:lnTo>
                  <a:cubicBezTo>
                    <a:pt x="0" y="38691"/>
                    <a:pt x="38691" y="0"/>
                    <a:pt x="864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77516" cy="2906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809715" y="-1350934"/>
            <a:ext cx="1433381" cy="4683349"/>
            <a:chOff x="0" y="0"/>
            <a:chExt cx="377516" cy="1233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516" cy="1233475"/>
            </a:xfrm>
            <a:custGeom>
              <a:avLst/>
              <a:gdLst/>
              <a:ahLst/>
              <a:cxnLst/>
              <a:rect r="r" b="b" t="t" l="l"/>
              <a:pathLst>
                <a:path h="1233475" w="377516">
                  <a:moveTo>
                    <a:pt x="86419" y="0"/>
                  </a:moveTo>
                  <a:lnTo>
                    <a:pt x="291097" y="0"/>
                  </a:lnTo>
                  <a:cubicBezTo>
                    <a:pt x="338825" y="0"/>
                    <a:pt x="377516" y="38691"/>
                    <a:pt x="377516" y="86419"/>
                  </a:cubicBezTo>
                  <a:lnTo>
                    <a:pt x="377516" y="1147056"/>
                  </a:lnTo>
                  <a:cubicBezTo>
                    <a:pt x="377516" y="1194784"/>
                    <a:pt x="338825" y="1233475"/>
                    <a:pt x="291097" y="1233475"/>
                  </a:cubicBezTo>
                  <a:lnTo>
                    <a:pt x="86419" y="1233475"/>
                  </a:lnTo>
                  <a:cubicBezTo>
                    <a:pt x="38691" y="1233475"/>
                    <a:pt x="0" y="1194784"/>
                    <a:pt x="0" y="1147056"/>
                  </a:cubicBezTo>
                  <a:lnTo>
                    <a:pt x="0" y="86419"/>
                  </a:lnTo>
                  <a:cubicBezTo>
                    <a:pt x="0" y="38691"/>
                    <a:pt x="38691" y="0"/>
                    <a:pt x="864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77516" cy="129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5299856" y="588229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92263" y="2643193"/>
            <a:ext cx="15767016" cy="6767852"/>
          </a:xfrm>
          <a:custGeom>
            <a:avLst/>
            <a:gdLst/>
            <a:ahLst/>
            <a:cxnLst/>
            <a:rect r="r" b="b" t="t" l="l"/>
            <a:pathLst>
              <a:path h="6767852" w="15767016">
                <a:moveTo>
                  <a:pt x="0" y="0"/>
                </a:moveTo>
                <a:lnTo>
                  <a:pt x="15767017" y="0"/>
                </a:lnTo>
                <a:lnTo>
                  <a:pt x="15767017" y="6767852"/>
                </a:lnTo>
                <a:lnTo>
                  <a:pt x="0" y="67678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888" r="0" b="-888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00953" y="1819428"/>
            <a:ext cx="7933029" cy="4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3099" b="true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7.1. NGUYÊN LÝ HIỂN THỊ VỚI THREE.JS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3060"/>
                </a:solidFill>
                <a:latin typeface="Noto Sans"/>
                <a:ea typeface="Noto Sans"/>
                <a:cs typeface="Noto Sans"/>
                <a:sym typeface="Noto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21515" y="-123634"/>
            <a:ext cx="1433381" cy="10820284"/>
            <a:chOff x="0" y="0"/>
            <a:chExt cx="377516" cy="28497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77516" cy="2849787"/>
            </a:xfrm>
            <a:custGeom>
              <a:avLst/>
              <a:gdLst/>
              <a:ahLst/>
              <a:cxnLst/>
              <a:rect r="r" b="b" t="t" l="l"/>
              <a:pathLst>
                <a:path h="2849787" w="377516">
                  <a:moveTo>
                    <a:pt x="86419" y="0"/>
                  </a:moveTo>
                  <a:lnTo>
                    <a:pt x="291097" y="0"/>
                  </a:lnTo>
                  <a:cubicBezTo>
                    <a:pt x="338825" y="0"/>
                    <a:pt x="377516" y="38691"/>
                    <a:pt x="377516" y="86419"/>
                  </a:cubicBezTo>
                  <a:lnTo>
                    <a:pt x="377516" y="2763368"/>
                  </a:lnTo>
                  <a:cubicBezTo>
                    <a:pt x="377516" y="2811096"/>
                    <a:pt x="338825" y="2849787"/>
                    <a:pt x="291097" y="2849787"/>
                  </a:cubicBezTo>
                  <a:lnTo>
                    <a:pt x="86419" y="2849787"/>
                  </a:lnTo>
                  <a:cubicBezTo>
                    <a:pt x="38691" y="2849787"/>
                    <a:pt x="0" y="2811096"/>
                    <a:pt x="0" y="2763368"/>
                  </a:cubicBezTo>
                  <a:lnTo>
                    <a:pt x="0" y="86419"/>
                  </a:lnTo>
                  <a:cubicBezTo>
                    <a:pt x="0" y="38691"/>
                    <a:pt x="38691" y="0"/>
                    <a:pt x="864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377516" cy="2906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809715" y="-1350934"/>
            <a:ext cx="1433381" cy="4683349"/>
            <a:chOff x="0" y="0"/>
            <a:chExt cx="377516" cy="12334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7516" cy="1233475"/>
            </a:xfrm>
            <a:custGeom>
              <a:avLst/>
              <a:gdLst/>
              <a:ahLst/>
              <a:cxnLst/>
              <a:rect r="r" b="b" t="t" l="l"/>
              <a:pathLst>
                <a:path h="1233475" w="377516">
                  <a:moveTo>
                    <a:pt x="86419" y="0"/>
                  </a:moveTo>
                  <a:lnTo>
                    <a:pt x="291097" y="0"/>
                  </a:lnTo>
                  <a:cubicBezTo>
                    <a:pt x="338825" y="0"/>
                    <a:pt x="377516" y="38691"/>
                    <a:pt x="377516" y="86419"/>
                  </a:cubicBezTo>
                  <a:lnTo>
                    <a:pt x="377516" y="1147056"/>
                  </a:lnTo>
                  <a:cubicBezTo>
                    <a:pt x="377516" y="1194784"/>
                    <a:pt x="338825" y="1233475"/>
                    <a:pt x="291097" y="1233475"/>
                  </a:cubicBezTo>
                  <a:lnTo>
                    <a:pt x="86419" y="1233475"/>
                  </a:lnTo>
                  <a:cubicBezTo>
                    <a:pt x="38691" y="1233475"/>
                    <a:pt x="0" y="1194784"/>
                    <a:pt x="0" y="1147056"/>
                  </a:cubicBezTo>
                  <a:lnTo>
                    <a:pt x="0" y="86419"/>
                  </a:lnTo>
                  <a:cubicBezTo>
                    <a:pt x="0" y="38691"/>
                    <a:pt x="38691" y="0"/>
                    <a:pt x="8641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377516" cy="1290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false" rot="0">
            <a:off x="15299856" y="588229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48215" y="3300182"/>
            <a:ext cx="3448351" cy="2943966"/>
          </a:xfrm>
          <a:custGeom>
            <a:avLst/>
            <a:gdLst/>
            <a:ahLst/>
            <a:cxnLst/>
            <a:rect r="r" b="b" t="t" l="l"/>
            <a:pathLst>
              <a:path h="2943966" w="3448351">
                <a:moveTo>
                  <a:pt x="0" y="0"/>
                </a:moveTo>
                <a:lnTo>
                  <a:pt x="3448351" y="0"/>
                </a:lnTo>
                <a:lnTo>
                  <a:pt x="3448351" y="2943966"/>
                </a:lnTo>
                <a:lnTo>
                  <a:pt x="0" y="29439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7604663" y="3234231"/>
            <a:ext cx="3448351" cy="3018650"/>
          </a:xfrm>
          <a:custGeom>
            <a:avLst/>
            <a:gdLst/>
            <a:ahLst/>
            <a:cxnLst/>
            <a:rect r="r" b="b" t="t" l="l"/>
            <a:pathLst>
              <a:path h="3018650" w="3448351">
                <a:moveTo>
                  <a:pt x="0" y="0"/>
                </a:moveTo>
                <a:lnTo>
                  <a:pt x="3448352" y="0"/>
                </a:lnTo>
                <a:lnTo>
                  <a:pt x="3448352" y="3018650"/>
                </a:lnTo>
                <a:lnTo>
                  <a:pt x="0" y="30186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13161112" y="3149917"/>
            <a:ext cx="3448351" cy="3187278"/>
          </a:xfrm>
          <a:custGeom>
            <a:avLst/>
            <a:gdLst/>
            <a:ahLst/>
            <a:cxnLst/>
            <a:rect r="r" b="b" t="t" l="l"/>
            <a:pathLst>
              <a:path h="3187278" w="3448351">
                <a:moveTo>
                  <a:pt x="0" y="0"/>
                </a:moveTo>
                <a:lnTo>
                  <a:pt x="3448352" y="0"/>
                </a:lnTo>
                <a:lnTo>
                  <a:pt x="3448352" y="3187278"/>
                </a:lnTo>
                <a:lnTo>
                  <a:pt x="0" y="318727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14" id="14"/>
          <p:cNvSpPr txBox="true"/>
          <p:nvPr/>
        </p:nvSpPr>
        <p:spPr>
          <a:xfrm rot="0">
            <a:off x="1300953" y="1819428"/>
            <a:ext cx="7933029" cy="4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6"/>
              </a:lnSpc>
            </a:pPr>
            <a:r>
              <a:rPr lang="en-US" sz="3099" b="true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7.2.TÍCH HỢP VỚI FLUTTER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7992" y="6569866"/>
            <a:ext cx="405754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Flutter: quản lý giao diện, điều hướng và dữ liệu ứng dụng.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300066" y="6569866"/>
            <a:ext cx="405754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W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ebView: hiển thị nội dung web 3D bên trong ứng dụng.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932245" y="6569866"/>
            <a:ext cx="4057546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Thr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ee.js: chạy bằng JavaScript trong nội dung web.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3060"/>
                </a:solidFill>
                <a:latin typeface="Noto Sans"/>
                <a:ea typeface="Noto Sans"/>
                <a:cs typeface="Noto Sans"/>
                <a:sym typeface="Noto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87893" y="1926070"/>
            <a:ext cx="7773059" cy="134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41"/>
              </a:lnSpc>
            </a:pP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8.HIỆU NĂNG VÀ </a:t>
            </a:r>
          </a:p>
          <a:p>
            <a:pPr algn="l">
              <a:lnSpc>
                <a:spcPts val="5141"/>
              </a:lnSpc>
            </a:pPr>
            <a:r>
              <a:rPr lang="en-US" sz="5300">
                <a:solidFill>
                  <a:srgbClr val="003060"/>
                </a:solidFill>
                <a:latin typeface="Paytone One"/>
                <a:ea typeface="Paytone One"/>
                <a:cs typeface="Paytone One"/>
                <a:sym typeface="Paytone One"/>
              </a:rPr>
              <a:t>TỐI ƯU HÓA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54184" y="6733300"/>
            <a:ext cx="5917777" cy="2874856"/>
            <a:chOff x="0" y="0"/>
            <a:chExt cx="1474140" cy="71613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74140" cy="716137"/>
            </a:xfrm>
            <a:custGeom>
              <a:avLst/>
              <a:gdLst/>
              <a:ahLst/>
              <a:cxnLst/>
              <a:rect r="r" b="b" t="t" l="l"/>
              <a:pathLst>
                <a:path h="716137" w="1474140">
                  <a:moveTo>
                    <a:pt x="0" y="0"/>
                  </a:moveTo>
                  <a:lnTo>
                    <a:pt x="1474140" y="0"/>
                  </a:lnTo>
                  <a:lnTo>
                    <a:pt x="1474140" y="716137"/>
                  </a:lnTo>
                  <a:lnTo>
                    <a:pt x="0" y="716137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1474140" cy="773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560952" y="6289156"/>
            <a:ext cx="6048785" cy="3017182"/>
            <a:chOff x="0" y="0"/>
            <a:chExt cx="1536891" cy="76661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36891" cy="766613"/>
            </a:xfrm>
            <a:custGeom>
              <a:avLst/>
              <a:gdLst/>
              <a:ahLst/>
              <a:cxnLst/>
              <a:rect r="r" b="b" t="t" l="l"/>
              <a:pathLst>
                <a:path h="766613" w="1536891">
                  <a:moveTo>
                    <a:pt x="0" y="0"/>
                  </a:moveTo>
                  <a:lnTo>
                    <a:pt x="1536891" y="0"/>
                  </a:lnTo>
                  <a:lnTo>
                    <a:pt x="1536891" y="766613"/>
                  </a:lnTo>
                  <a:lnTo>
                    <a:pt x="0" y="766613"/>
                  </a:lnTo>
                  <a:close/>
                </a:path>
              </a:pathLst>
            </a:custGeom>
            <a:blipFill>
              <a:blip r:embed="rId3"/>
              <a:stretch>
                <a:fillRect l="0" t="-6420" r="0" b="-642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117466" y="9472315"/>
            <a:ext cx="8162329" cy="1592157"/>
            <a:chOff x="0" y="0"/>
            <a:chExt cx="2149749" cy="4193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49749" cy="419334"/>
            </a:xfrm>
            <a:custGeom>
              <a:avLst/>
              <a:gdLst/>
              <a:ahLst/>
              <a:cxnLst/>
              <a:rect r="r" b="b" t="t" l="l"/>
              <a:pathLst>
                <a:path h="419334" w="2149749">
                  <a:moveTo>
                    <a:pt x="15176" y="0"/>
                  </a:moveTo>
                  <a:lnTo>
                    <a:pt x="2134573" y="0"/>
                  </a:lnTo>
                  <a:cubicBezTo>
                    <a:pt x="2138598" y="0"/>
                    <a:pt x="2142458" y="1599"/>
                    <a:pt x="2145304" y="4445"/>
                  </a:cubicBezTo>
                  <a:cubicBezTo>
                    <a:pt x="2148150" y="7291"/>
                    <a:pt x="2149749" y="11151"/>
                    <a:pt x="2149749" y="15176"/>
                  </a:cubicBezTo>
                  <a:lnTo>
                    <a:pt x="2149749" y="404158"/>
                  </a:lnTo>
                  <a:cubicBezTo>
                    <a:pt x="2149749" y="408183"/>
                    <a:pt x="2148150" y="412043"/>
                    <a:pt x="2145304" y="414889"/>
                  </a:cubicBezTo>
                  <a:cubicBezTo>
                    <a:pt x="2142458" y="417735"/>
                    <a:pt x="2138598" y="419334"/>
                    <a:pt x="2134573" y="419334"/>
                  </a:cubicBezTo>
                  <a:lnTo>
                    <a:pt x="15176" y="419334"/>
                  </a:lnTo>
                  <a:cubicBezTo>
                    <a:pt x="6794" y="419334"/>
                    <a:pt x="0" y="412539"/>
                    <a:pt x="0" y="404158"/>
                  </a:cubicBezTo>
                  <a:lnTo>
                    <a:pt x="0" y="15176"/>
                  </a:lnTo>
                  <a:cubicBezTo>
                    <a:pt x="0" y="11151"/>
                    <a:pt x="1599" y="7291"/>
                    <a:pt x="4445" y="4445"/>
                  </a:cubicBezTo>
                  <a:cubicBezTo>
                    <a:pt x="7291" y="1599"/>
                    <a:pt x="11151" y="0"/>
                    <a:pt x="151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2149749" cy="476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23912" y="-336043"/>
            <a:ext cx="8741633" cy="1132122"/>
            <a:chOff x="0" y="0"/>
            <a:chExt cx="2302323" cy="2981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302323" cy="298172"/>
            </a:xfrm>
            <a:custGeom>
              <a:avLst/>
              <a:gdLst/>
              <a:ahLst/>
              <a:cxnLst/>
              <a:rect r="r" b="b" t="t" l="l"/>
              <a:pathLst>
                <a:path h="298172" w="2302323">
                  <a:moveTo>
                    <a:pt x="14170" y="0"/>
                  </a:moveTo>
                  <a:lnTo>
                    <a:pt x="2288153" y="0"/>
                  </a:lnTo>
                  <a:cubicBezTo>
                    <a:pt x="2291911" y="0"/>
                    <a:pt x="2295515" y="1493"/>
                    <a:pt x="2298173" y="4150"/>
                  </a:cubicBezTo>
                  <a:cubicBezTo>
                    <a:pt x="2300830" y="6808"/>
                    <a:pt x="2302323" y="10412"/>
                    <a:pt x="2302323" y="14170"/>
                  </a:cubicBezTo>
                  <a:lnTo>
                    <a:pt x="2302323" y="284002"/>
                  </a:lnTo>
                  <a:cubicBezTo>
                    <a:pt x="2302323" y="287760"/>
                    <a:pt x="2300830" y="291364"/>
                    <a:pt x="2298173" y="294022"/>
                  </a:cubicBezTo>
                  <a:cubicBezTo>
                    <a:pt x="2295515" y="296679"/>
                    <a:pt x="2291911" y="298172"/>
                    <a:pt x="2288153" y="298172"/>
                  </a:cubicBezTo>
                  <a:lnTo>
                    <a:pt x="14170" y="298172"/>
                  </a:lnTo>
                  <a:cubicBezTo>
                    <a:pt x="10412" y="298172"/>
                    <a:pt x="6808" y="296679"/>
                    <a:pt x="4150" y="294022"/>
                  </a:cubicBezTo>
                  <a:cubicBezTo>
                    <a:pt x="1493" y="291364"/>
                    <a:pt x="0" y="287760"/>
                    <a:pt x="0" y="284002"/>
                  </a:cubicBezTo>
                  <a:lnTo>
                    <a:pt x="0" y="14170"/>
                  </a:lnTo>
                  <a:cubicBezTo>
                    <a:pt x="0" y="10412"/>
                    <a:pt x="1493" y="6808"/>
                    <a:pt x="4150" y="4150"/>
                  </a:cubicBezTo>
                  <a:cubicBezTo>
                    <a:pt x="6808" y="1493"/>
                    <a:pt x="10412" y="0"/>
                    <a:pt x="1417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2302323" cy="3553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0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true" flipV="false" rot="0">
            <a:off x="15519101" y="404526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4" y="0"/>
                </a:moveTo>
                <a:lnTo>
                  <a:pt x="0" y="0"/>
                </a:lnTo>
                <a:lnTo>
                  <a:pt x="0" y="805023"/>
                </a:lnTo>
                <a:lnTo>
                  <a:pt x="1689934" y="805023"/>
                </a:lnTo>
                <a:lnTo>
                  <a:pt x="168993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47665" y="4709520"/>
            <a:ext cx="9009043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Nhiều t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am giác và vật thể.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Texture có độ phân giải lớn.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Nhiều nguồn sáng, bóng và hiệu ứng.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Kết xuất liên tục khi cảnh ít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 thay đổi.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747665" y="4042883"/>
            <a:ext cx="7732298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8.1.Các yếu tố làm tăng chi phí xử lý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110559" y="2706061"/>
            <a:ext cx="7851275" cy="3714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Giảm hì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nh học thừa, chọn texture phù hợp.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Nén tài nguyên khi công cụ hỗ trợ.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Hạn chế hiệu ứng nặng, giải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 p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hó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ng tài nguyên.</a:t>
            </a:r>
          </a:p>
          <a:p>
            <a:pPr algn="l" marL="647702" indent="-323851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Kiểm thử trê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n</a:t>
            </a:r>
            <a:r>
              <a:rPr lang="en-US" sz="3000">
                <a:solidFill>
                  <a:srgbClr val="003060"/>
                </a:solidFill>
                <a:latin typeface="Open Sans"/>
                <a:ea typeface="Open Sans"/>
                <a:cs typeface="Open Sans"/>
                <a:sym typeface="Open Sans"/>
              </a:rPr>
              <a:t> thiết bị thật.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110559" y="1948366"/>
            <a:ext cx="4028718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40"/>
              </a:lnSpc>
              <a:spcBef>
                <a:spcPct val="0"/>
              </a:spcBef>
            </a:pPr>
            <a:r>
              <a:rPr lang="en-US" b="true" sz="3100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8.2.Biện pháp tối ưu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3060"/>
                </a:solidFill>
                <a:latin typeface="Noto Sans"/>
                <a:ea typeface="Noto Sans"/>
                <a:cs typeface="Noto Sans"/>
                <a:sym typeface="Noto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3060">
                <a:alpha val="100000"/>
              </a:srgbClr>
            </a:gs>
            <a:gs pos="100000">
              <a:srgbClr val="003060">
                <a:alpha val="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41192" y="4088268"/>
            <a:ext cx="13071332" cy="1351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8"/>
              </a:lnSpc>
            </a:pPr>
            <a:r>
              <a:rPr lang="en-US" sz="10400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DEMO KHỐI RUBIK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5126022" y="8453277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3" y="0"/>
                </a:moveTo>
                <a:lnTo>
                  <a:pt x="0" y="0"/>
                </a:lnTo>
                <a:lnTo>
                  <a:pt x="0" y="805023"/>
                </a:lnTo>
                <a:lnTo>
                  <a:pt x="1689933" y="805023"/>
                </a:lnTo>
                <a:lnTo>
                  <a:pt x="168993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666" r="0" b="-1666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80805" y="2967568"/>
            <a:ext cx="1309505" cy="4351865"/>
            <a:chOff x="0" y="0"/>
            <a:chExt cx="344890" cy="11461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4890" cy="1146170"/>
            </a:xfrm>
            <a:custGeom>
              <a:avLst/>
              <a:gdLst/>
              <a:ahLst/>
              <a:cxnLst/>
              <a:rect r="r" b="b" t="t" l="l"/>
              <a:pathLst>
                <a:path h="1146170" w="344890">
                  <a:moveTo>
                    <a:pt x="147802" y="0"/>
                  </a:moveTo>
                  <a:lnTo>
                    <a:pt x="197088" y="0"/>
                  </a:lnTo>
                  <a:cubicBezTo>
                    <a:pt x="236288" y="0"/>
                    <a:pt x="273882" y="15572"/>
                    <a:pt x="301600" y="43290"/>
                  </a:cubicBezTo>
                  <a:cubicBezTo>
                    <a:pt x="329318" y="71009"/>
                    <a:pt x="344890" y="108603"/>
                    <a:pt x="344890" y="147802"/>
                  </a:cubicBezTo>
                  <a:lnTo>
                    <a:pt x="344890" y="998368"/>
                  </a:lnTo>
                  <a:cubicBezTo>
                    <a:pt x="344890" y="1037567"/>
                    <a:pt x="329318" y="1075162"/>
                    <a:pt x="301600" y="1102880"/>
                  </a:cubicBezTo>
                  <a:cubicBezTo>
                    <a:pt x="273882" y="1130598"/>
                    <a:pt x="236288" y="1146170"/>
                    <a:pt x="197088" y="1146170"/>
                  </a:cubicBezTo>
                  <a:lnTo>
                    <a:pt x="147802" y="1146170"/>
                  </a:lnTo>
                  <a:cubicBezTo>
                    <a:pt x="108603" y="1146170"/>
                    <a:pt x="71009" y="1130598"/>
                    <a:pt x="43290" y="1102880"/>
                  </a:cubicBezTo>
                  <a:cubicBezTo>
                    <a:pt x="15572" y="1075162"/>
                    <a:pt x="0" y="1037567"/>
                    <a:pt x="0" y="998368"/>
                  </a:cubicBezTo>
                  <a:lnTo>
                    <a:pt x="0" y="147802"/>
                  </a:lnTo>
                  <a:cubicBezTo>
                    <a:pt x="0" y="108603"/>
                    <a:pt x="15572" y="71009"/>
                    <a:pt x="43290" y="43290"/>
                  </a:cubicBezTo>
                  <a:cubicBezTo>
                    <a:pt x="71009" y="15572"/>
                    <a:pt x="108603" y="0"/>
                    <a:pt x="14780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44890" cy="1184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897777" y="-251375"/>
            <a:ext cx="4789934" cy="10923738"/>
            <a:chOff x="0" y="0"/>
            <a:chExt cx="1261547" cy="2877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61547" cy="2877034"/>
            </a:xfrm>
            <a:custGeom>
              <a:avLst/>
              <a:gdLst/>
              <a:ahLst/>
              <a:cxnLst/>
              <a:rect r="r" b="b" t="t" l="l"/>
              <a:pathLst>
                <a:path h="2877034" w="1261547">
                  <a:moveTo>
                    <a:pt x="0" y="0"/>
                  </a:moveTo>
                  <a:lnTo>
                    <a:pt x="1261547" y="0"/>
                  </a:lnTo>
                  <a:lnTo>
                    <a:pt x="1261547" y="2877034"/>
                  </a:lnTo>
                  <a:lnTo>
                    <a:pt x="0" y="2877034"/>
                  </a:lnTo>
                  <a:close/>
                </a:path>
              </a:pathLst>
            </a:custGeom>
            <a:gradFill rotWithShape="true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261547" cy="29151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806112" y="8918694"/>
            <a:ext cx="2675777" cy="679211"/>
          </a:xfrm>
          <a:custGeom>
            <a:avLst/>
            <a:gdLst/>
            <a:ahLst/>
            <a:cxnLst/>
            <a:rect r="r" b="b" t="t" l="l"/>
            <a:pathLst>
              <a:path h="679211" w="2675777">
                <a:moveTo>
                  <a:pt x="0" y="0"/>
                </a:moveTo>
                <a:lnTo>
                  <a:pt x="2675776" y="0"/>
                </a:lnTo>
                <a:lnTo>
                  <a:pt x="2675776" y="679212"/>
                </a:lnTo>
                <a:lnTo>
                  <a:pt x="0" y="67921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072387" y="802308"/>
            <a:ext cx="373825" cy="1489884"/>
          </a:xfrm>
          <a:custGeom>
            <a:avLst/>
            <a:gdLst/>
            <a:ahLst/>
            <a:cxnLst/>
            <a:rect r="r" b="b" t="t" l="l"/>
            <a:pathLst>
              <a:path h="1489884" w="373825">
                <a:moveTo>
                  <a:pt x="0" y="0"/>
                </a:moveTo>
                <a:lnTo>
                  <a:pt x="373826" y="0"/>
                </a:lnTo>
                <a:lnTo>
                  <a:pt x="373826" y="1489884"/>
                </a:lnTo>
                <a:lnTo>
                  <a:pt x="0" y="14898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8791955" y="1889681"/>
            <a:ext cx="1689934" cy="805023"/>
          </a:xfrm>
          <a:custGeom>
            <a:avLst/>
            <a:gdLst/>
            <a:ahLst/>
            <a:cxnLst/>
            <a:rect r="r" b="b" t="t" l="l"/>
            <a:pathLst>
              <a:path h="805023" w="1689934">
                <a:moveTo>
                  <a:pt x="1689933" y="0"/>
                </a:moveTo>
                <a:lnTo>
                  <a:pt x="0" y="0"/>
                </a:lnTo>
                <a:lnTo>
                  <a:pt x="0" y="805023"/>
                </a:lnTo>
                <a:lnTo>
                  <a:pt x="1689933" y="805023"/>
                </a:lnTo>
                <a:lnTo>
                  <a:pt x="1689933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64416" y="3368462"/>
            <a:ext cx="8216473" cy="1340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46"/>
              </a:lnSpc>
            </a:pPr>
            <a:r>
              <a:rPr lang="en-US" sz="10357" b="true">
                <a:solidFill>
                  <a:srgbClr val="003060"/>
                </a:solidFill>
                <a:latin typeface="Garet Bold"/>
                <a:ea typeface="Garet Bold"/>
                <a:cs typeface="Garet Bold"/>
                <a:sym typeface="Garet Bold"/>
              </a:rPr>
              <a:t>THANK YOU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635885" y="100099"/>
            <a:ext cx="10099426" cy="10086801"/>
          </a:xfrm>
          <a:custGeom>
            <a:avLst/>
            <a:gdLst/>
            <a:ahLst/>
            <a:cxnLst/>
            <a:rect r="r" b="b" t="t" l="l"/>
            <a:pathLst>
              <a:path h="10086801" w="10099426">
                <a:moveTo>
                  <a:pt x="0" y="0"/>
                </a:moveTo>
                <a:lnTo>
                  <a:pt x="10099426" y="0"/>
                </a:lnTo>
                <a:lnTo>
                  <a:pt x="10099426" y="10086802"/>
                </a:lnTo>
                <a:lnTo>
                  <a:pt x="0" y="1008680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1000"/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587485" y="1930948"/>
            <a:ext cx="8529321" cy="8518660"/>
          </a:xfrm>
          <a:custGeom>
            <a:avLst/>
            <a:gdLst/>
            <a:ahLst/>
            <a:cxnLst/>
            <a:rect r="r" b="b" t="t" l="l"/>
            <a:pathLst>
              <a:path h="8518660" w="8529321">
                <a:moveTo>
                  <a:pt x="0" y="0"/>
                </a:moveTo>
                <a:lnTo>
                  <a:pt x="8529321" y="0"/>
                </a:lnTo>
                <a:lnTo>
                  <a:pt x="8529321" y="8518660"/>
                </a:lnTo>
                <a:lnTo>
                  <a:pt x="0" y="85186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9000"/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855460" y="242737"/>
            <a:ext cx="8432540" cy="843254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0" y="3710599"/>
            <a:ext cx="5094067" cy="509406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11"/>
              <a:stretch>
                <a:fillRect l="-45818" t="0" r="-45818" b="0"/>
              </a:stretch>
            </a:blipFill>
            <a:ln w="762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0" y="0"/>
            <a:ext cx="3082050" cy="992776"/>
          </a:xfrm>
          <a:custGeom>
            <a:avLst/>
            <a:gdLst/>
            <a:ahLst/>
            <a:cxnLst/>
            <a:rect r="r" b="b" t="t" l="l"/>
            <a:pathLst>
              <a:path h="992776" w="3082050">
                <a:moveTo>
                  <a:pt x="0" y="0"/>
                </a:moveTo>
                <a:lnTo>
                  <a:pt x="3082050" y="0"/>
                </a:lnTo>
                <a:lnTo>
                  <a:pt x="3082050" y="992776"/>
                </a:lnTo>
                <a:lnTo>
                  <a:pt x="0" y="99277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3060"/>
                </a:solidFill>
                <a:latin typeface="Noto Sans"/>
                <a:ea typeface="Noto Sans"/>
                <a:cs typeface="Noto Sans"/>
                <a:sym typeface="Noto Sans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DAHXaO0qDIA</dc:identifier>
  <dcterms:modified xsi:type="dcterms:W3CDTF">2011-08-01T06:04:30Z</dcterms:modified>
  <cp:revision>1</cp:revision>
  <dc:title>Blue and White Modern Business Proposal Presentation</dc:title>
</cp:coreProperties>
</file>